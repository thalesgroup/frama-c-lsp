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71" r:id="rId5"/>
    <p:sldId id="272" r:id="rId6"/>
    <p:sldId id="273" r:id="rId7"/>
    <p:sldId id="262" r:id="rId8"/>
    <p:sldId id="269" r:id="rId9"/>
    <p:sldId id="278" r:id="rId10"/>
    <p:sldId id="280" r:id="rId11"/>
    <p:sldId id="263" r:id="rId12"/>
    <p:sldId id="274" r:id="rId13"/>
    <p:sldId id="276" r:id="rId14"/>
    <p:sldId id="277" r:id="rId15"/>
    <p:sldId id="288" r:id="rId16"/>
    <p:sldId id="265" r:id="rId17"/>
    <p:sldId id="281" r:id="rId18"/>
    <p:sldId id="282" r:id="rId19"/>
    <p:sldId id="283" r:id="rId20"/>
    <p:sldId id="266" r:id="rId21"/>
    <p:sldId id="284" r:id="rId22"/>
    <p:sldId id="285" r:id="rId23"/>
    <p:sldId id="286" r:id="rId24"/>
    <p:sldId id="287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69F5B5-FEEF-9A4B-352D-00AF5D8B0EF8}" v="68" dt="2024-03-25T08:05:16.559"/>
    <p1510:client id="{5FA324C7-3973-AA4E-84F5-8C797DFA05DE}" v="1170" dt="2024-03-24T20:46:41.092"/>
    <p1510:client id="{7FEFCD30-C0C6-2F6A-021B-0487F936E55F}" v="37" dt="2024-03-24T21:28:25.769"/>
    <p1510:client id="{806540A6-A9B0-289E-50AE-E7DD0AE18E2D}" v="794" dt="2024-03-24T21:27:39.772"/>
    <p1510:client id="{D2BCD0BC-C69A-4D69-E041-93A6ECBAB8F0}" v="62" dt="2024-03-25T15:34:47.784"/>
    <p1510:client id="{F765BAA4-D84F-F440-3346-1E5002E0EC28}" v="1048" dt="2024-03-25T12:20:09.364"/>
    <p1510:client id="{F87C6B45-9A5D-195F-67D9-FF5C0838C081}" v="831" dt="2024-03-24T17:39:09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5C6CFF-3E3B-4294-A547-6B452B3E737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74224C-5BC0-4036-A4AD-A11702C5FCB0}">
      <dgm:prSet/>
      <dgm:spPr/>
      <dgm:t>
        <a:bodyPr/>
        <a:lstStyle/>
        <a:p>
          <a:pPr>
            <a:defRPr b="1"/>
          </a:pPr>
          <a:r>
            <a:rPr lang="fr-FR" baseline="0" dirty="0"/>
            <a:t>Utilisabilité </a:t>
          </a:r>
          <a:endParaRPr lang="en-US" dirty="0"/>
        </a:p>
      </dgm:t>
    </dgm:pt>
    <dgm:pt modelId="{531BD57A-C12E-40CC-8BFF-A24BE5A9C557}" type="parTrans" cxnId="{BC89E033-E3CC-4C02-9B28-E61E2D9E1B0B}">
      <dgm:prSet/>
      <dgm:spPr/>
      <dgm:t>
        <a:bodyPr/>
        <a:lstStyle/>
        <a:p>
          <a:endParaRPr lang="en-US"/>
        </a:p>
      </dgm:t>
    </dgm:pt>
    <dgm:pt modelId="{B2C8571E-3566-4077-815F-A879623A381A}" type="sibTrans" cxnId="{BC89E033-E3CC-4C02-9B28-E61E2D9E1B0B}">
      <dgm:prSet/>
      <dgm:spPr/>
      <dgm:t>
        <a:bodyPr/>
        <a:lstStyle/>
        <a:p>
          <a:endParaRPr lang="en-US"/>
        </a:p>
      </dgm:t>
    </dgm:pt>
    <dgm:pt modelId="{B7685CEC-45BB-4069-9A38-CD3E77CF0FBD}">
      <dgm:prSet/>
      <dgm:spPr/>
      <dgm:t>
        <a:bodyPr/>
        <a:lstStyle/>
        <a:p>
          <a:r>
            <a:rPr lang="fr-FR" dirty="0">
              <a:latin typeface="Century Schoolbook" panose="02040604050505020304"/>
            </a:rPr>
            <a:t>Utilité</a:t>
          </a:r>
          <a:r>
            <a:rPr lang="fr-FR" dirty="0"/>
            <a:t> </a:t>
          </a:r>
          <a:endParaRPr lang="en-US" dirty="0"/>
        </a:p>
      </dgm:t>
    </dgm:pt>
    <dgm:pt modelId="{9F4B16E8-D127-4D33-B00F-108F5F6DE09D}" type="parTrans" cxnId="{7FD301C3-FD0F-4B09-9F51-85695D23777C}">
      <dgm:prSet/>
      <dgm:spPr/>
      <dgm:t>
        <a:bodyPr/>
        <a:lstStyle/>
        <a:p>
          <a:endParaRPr lang="en-US"/>
        </a:p>
      </dgm:t>
    </dgm:pt>
    <dgm:pt modelId="{333891F4-B433-4AEF-9002-3D46327B8B8D}" type="sibTrans" cxnId="{7FD301C3-FD0F-4B09-9F51-85695D23777C}">
      <dgm:prSet/>
      <dgm:spPr/>
      <dgm:t>
        <a:bodyPr/>
        <a:lstStyle/>
        <a:p>
          <a:endParaRPr lang="en-US"/>
        </a:p>
      </dgm:t>
    </dgm:pt>
    <dgm:pt modelId="{BF8F1A65-C9FD-46C6-A418-F3677C3A5103}">
      <dgm:prSet/>
      <dgm:spPr/>
      <dgm:t>
        <a:bodyPr/>
        <a:lstStyle/>
        <a:p>
          <a:r>
            <a:rPr lang="fr-FR" dirty="0"/>
            <a:t>Meilleure expérience de développement?</a:t>
          </a:r>
          <a:endParaRPr lang="en-US" dirty="0"/>
        </a:p>
      </dgm:t>
    </dgm:pt>
    <dgm:pt modelId="{B84A51BD-B2FE-4888-A2E1-6A336CB2282A}" type="parTrans" cxnId="{26A628F0-263C-4257-B180-C727862EE0F2}">
      <dgm:prSet/>
      <dgm:spPr/>
      <dgm:t>
        <a:bodyPr/>
        <a:lstStyle/>
        <a:p>
          <a:endParaRPr lang="en-US"/>
        </a:p>
      </dgm:t>
    </dgm:pt>
    <dgm:pt modelId="{21DC1645-DA78-479B-A477-B2EB3E17A154}" type="sibTrans" cxnId="{26A628F0-263C-4257-B180-C727862EE0F2}">
      <dgm:prSet/>
      <dgm:spPr/>
      <dgm:t>
        <a:bodyPr/>
        <a:lstStyle/>
        <a:p>
          <a:endParaRPr lang="en-US"/>
        </a:p>
      </dgm:t>
    </dgm:pt>
    <dgm:pt modelId="{58881E30-FC15-43BD-8595-CBDD1350128A}">
      <dgm:prSet/>
      <dgm:spPr/>
      <dgm:t>
        <a:bodyPr/>
        <a:lstStyle/>
        <a:p>
          <a:pPr>
            <a:defRPr b="1"/>
          </a:pPr>
          <a:r>
            <a:rPr lang="fr-FR" baseline="0" dirty="0"/>
            <a:t>Performance</a:t>
          </a:r>
          <a:endParaRPr lang="en-US" dirty="0"/>
        </a:p>
      </dgm:t>
    </dgm:pt>
    <dgm:pt modelId="{DCA6A684-8588-411E-A749-5416BFB6253D}" type="parTrans" cxnId="{235EC4E3-62F8-40FB-A313-4FC469F60F39}">
      <dgm:prSet/>
      <dgm:spPr/>
      <dgm:t>
        <a:bodyPr/>
        <a:lstStyle/>
        <a:p>
          <a:endParaRPr lang="en-US"/>
        </a:p>
      </dgm:t>
    </dgm:pt>
    <dgm:pt modelId="{6A81904E-E774-461E-B1DF-A177BC918434}" type="sibTrans" cxnId="{235EC4E3-62F8-40FB-A313-4FC469F60F39}">
      <dgm:prSet/>
      <dgm:spPr/>
      <dgm:t>
        <a:bodyPr/>
        <a:lstStyle/>
        <a:p>
          <a:endParaRPr lang="en-US"/>
        </a:p>
      </dgm:t>
    </dgm:pt>
    <dgm:pt modelId="{793725C1-F1C1-4A6F-81FC-A3E38D25A987}">
      <dgm:prSet/>
      <dgm:spPr/>
      <dgm:t>
        <a:bodyPr/>
        <a:lstStyle/>
        <a:p>
          <a:r>
            <a:rPr lang="fr-FR" dirty="0"/>
            <a:t>Temps de latence?</a:t>
          </a:r>
          <a:endParaRPr lang="en-US" dirty="0"/>
        </a:p>
      </dgm:t>
    </dgm:pt>
    <dgm:pt modelId="{6D721B5E-BEAD-4F3D-A5AB-4A32E8CCD63F}" type="parTrans" cxnId="{9EA616A5-4F74-4B0D-A139-6D7E47A67A18}">
      <dgm:prSet/>
      <dgm:spPr/>
      <dgm:t>
        <a:bodyPr/>
        <a:lstStyle/>
        <a:p>
          <a:endParaRPr lang="en-US"/>
        </a:p>
      </dgm:t>
    </dgm:pt>
    <dgm:pt modelId="{CDBF633D-E6AF-4E15-BB0C-4F85F562B6B4}" type="sibTrans" cxnId="{9EA616A5-4F74-4B0D-A139-6D7E47A67A18}">
      <dgm:prSet/>
      <dgm:spPr/>
      <dgm:t>
        <a:bodyPr/>
        <a:lstStyle/>
        <a:p>
          <a:endParaRPr lang="en-US"/>
        </a:p>
      </dgm:t>
    </dgm:pt>
    <dgm:pt modelId="{0ECB00B0-1BAD-4ED7-A035-F64408138B48}" type="pres">
      <dgm:prSet presAssocID="{715C6CFF-3E3B-4294-A547-6B452B3E7370}" presName="root" presStyleCnt="0">
        <dgm:presLayoutVars>
          <dgm:dir/>
          <dgm:resizeHandles val="exact"/>
        </dgm:presLayoutVars>
      </dgm:prSet>
      <dgm:spPr/>
    </dgm:pt>
    <dgm:pt modelId="{D509662E-2A45-4052-9181-6575E082AED5}" type="pres">
      <dgm:prSet presAssocID="{8474224C-5BC0-4036-A4AD-A11702C5FCB0}" presName="compNode" presStyleCnt="0"/>
      <dgm:spPr/>
    </dgm:pt>
    <dgm:pt modelId="{45CB5DD8-6B48-4A44-BDEF-9FC0BC0AB403}" type="pres">
      <dgm:prSet presAssocID="{8474224C-5BC0-4036-A4AD-A11702C5FCB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208738F-7154-4487-8186-FA02A3FBCFDD}" type="pres">
      <dgm:prSet presAssocID="{8474224C-5BC0-4036-A4AD-A11702C5FCB0}" presName="iconSpace" presStyleCnt="0"/>
      <dgm:spPr/>
    </dgm:pt>
    <dgm:pt modelId="{2D02B6D2-924C-4B0C-907D-F505B779561E}" type="pres">
      <dgm:prSet presAssocID="{8474224C-5BC0-4036-A4AD-A11702C5FCB0}" presName="parTx" presStyleLbl="revTx" presStyleIdx="0" presStyleCnt="4">
        <dgm:presLayoutVars>
          <dgm:chMax val="0"/>
          <dgm:chPref val="0"/>
        </dgm:presLayoutVars>
      </dgm:prSet>
      <dgm:spPr/>
    </dgm:pt>
    <dgm:pt modelId="{5464DEE2-194F-41AF-91FF-66271F07177F}" type="pres">
      <dgm:prSet presAssocID="{8474224C-5BC0-4036-A4AD-A11702C5FCB0}" presName="txSpace" presStyleCnt="0"/>
      <dgm:spPr/>
    </dgm:pt>
    <dgm:pt modelId="{639004D9-2208-4380-A009-2782663D4DD9}" type="pres">
      <dgm:prSet presAssocID="{8474224C-5BC0-4036-A4AD-A11702C5FCB0}" presName="desTx" presStyleLbl="revTx" presStyleIdx="1" presStyleCnt="4">
        <dgm:presLayoutVars/>
      </dgm:prSet>
      <dgm:spPr/>
    </dgm:pt>
    <dgm:pt modelId="{1197D901-838A-4B1C-9F11-8DA35B2B2597}" type="pres">
      <dgm:prSet presAssocID="{B2C8571E-3566-4077-815F-A879623A381A}" presName="sibTrans" presStyleCnt="0"/>
      <dgm:spPr/>
    </dgm:pt>
    <dgm:pt modelId="{5E442973-3B60-42FE-B318-6A803EFEC23D}" type="pres">
      <dgm:prSet presAssocID="{58881E30-FC15-43BD-8595-CBDD1350128A}" presName="compNode" presStyleCnt="0"/>
      <dgm:spPr/>
    </dgm:pt>
    <dgm:pt modelId="{649B096B-EE6F-4175-A411-47E41CBC9C41}" type="pres">
      <dgm:prSet presAssocID="{58881E30-FC15-43BD-8595-CBDD1350128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462FC5E8-9650-4CEB-A98A-43D45DD33A7A}" type="pres">
      <dgm:prSet presAssocID="{58881E30-FC15-43BD-8595-CBDD1350128A}" presName="iconSpace" presStyleCnt="0"/>
      <dgm:spPr/>
    </dgm:pt>
    <dgm:pt modelId="{0EE3A60E-0778-46AA-A399-6D93BD354074}" type="pres">
      <dgm:prSet presAssocID="{58881E30-FC15-43BD-8595-CBDD1350128A}" presName="parTx" presStyleLbl="revTx" presStyleIdx="2" presStyleCnt="4">
        <dgm:presLayoutVars>
          <dgm:chMax val="0"/>
          <dgm:chPref val="0"/>
        </dgm:presLayoutVars>
      </dgm:prSet>
      <dgm:spPr/>
    </dgm:pt>
    <dgm:pt modelId="{3DE8F3BE-90CF-4D99-B441-F109405B5AD3}" type="pres">
      <dgm:prSet presAssocID="{58881E30-FC15-43BD-8595-CBDD1350128A}" presName="txSpace" presStyleCnt="0"/>
      <dgm:spPr/>
    </dgm:pt>
    <dgm:pt modelId="{51FEAE74-6723-478A-A49A-46E6A74249AF}" type="pres">
      <dgm:prSet presAssocID="{58881E30-FC15-43BD-8595-CBDD1350128A}" presName="desTx" presStyleLbl="revTx" presStyleIdx="3" presStyleCnt="4">
        <dgm:presLayoutVars/>
      </dgm:prSet>
      <dgm:spPr/>
    </dgm:pt>
  </dgm:ptLst>
  <dgm:cxnLst>
    <dgm:cxn modelId="{BC89E033-E3CC-4C02-9B28-E61E2D9E1B0B}" srcId="{715C6CFF-3E3B-4294-A547-6B452B3E7370}" destId="{8474224C-5BC0-4036-A4AD-A11702C5FCB0}" srcOrd="0" destOrd="0" parTransId="{531BD57A-C12E-40CC-8BFF-A24BE5A9C557}" sibTransId="{B2C8571E-3566-4077-815F-A879623A381A}"/>
    <dgm:cxn modelId="{B14FFE64-01E6-494C-B24E-6C2BC21BD6D0}" type="presOf" srcId="{B7685CEC-45BB-4069-9A38-CD3E77CF0FBD}" destId="{639004D9-2208-4380-A009-2782663D4DD9}" srcOrd="0" destOrd="0" presId="urn:microsoft.com/office/officeart/2018/2/layout/IconLabelDescriptionList"/>
    <dgm:cxn modelId="{5F312C74-276D-424D-A5FB-199837403D4D}" type="presOf" srcId="{BF8F1A65-C9FD-46C6-A418-F3677C3A5103}" destId="{639004D9-2208-4380-A009-2782663D4DD9}" srcOrd="0" destOrd="1" presId="urn:microsoft.com/office/officeart/2018/2/layout/IconLabelDescriptionList"/>
    <dgm:cxn modelId="{40B0DF8F-B3F5-41EB-948A-D82D5AFA10AD}" type="presOf" srcId="{8474224C-5BC0-4036-A4AD-A11702C5FCB0}" destId="{2D02B6D2-924C-4B0C-907D-F505B779561E}" srcOrd="0" destOrd="0" presId="urn:microsoft.com/office/officeart/2018/2/layout/IconLabelDescriptionList"/>
    <dgm:cxn modelId="{5548EE99-578D-4FD4-89BF-380BEAF50FA0}" type="presOf" srcId="{715C6CFF-3E3B-4294-A547-6B452B3E7370}" destId="{0ECB00B0-1BAD-4ED7-A035-F64408138B48}" srcOrd="0" destOrd="0" presId="urn:microsoft.com/office/officeart/2018/2/layout/IconLabelDescriptionList"/>
    <dgm:cxn modelId="{9EA616A5-4F74-4B0D-A139-6D7E47A67A18}" srcId="{58881E30-FC15-43BD-8595-CBDD1350128A}" destId="{793725C1-F1C1-4A6F-81FC-A3E38D25A987}" srcOrd="0" destOrd="0" parTransId="{6D721B5E-BEAD-4F3D-A5AB-4A32E8CCD63F}" sibTransId="{CDBF633D-E6AF-4E15-BB0C-4F85F562B6B4}"/>
    <dgm:cxn modelId="{FFC952B3-1C6B-4AE0-8987-091BCDABDCB3}" type="presOf" srcId="{793725C1-F1C1-4A6F-81FC-A3E38D25A987}" destId="{51FEAE74-6723-478A-A49A-46E6A74249AF}" srcOrd="0" destOrd="0" presId="urn:microsoft.com/office/officeart/2018/2/layout/IconLabelDescriptionList"/>
    <dgm:cxn modelId="{7FD301C3-FD0F-4B09-9F51-85695D23777C}" srcId="{8474224C-5BC0-4036-A4AD-A11702C5FCB0}" destId="{B7685CEC-45BB-4069-9A38-CD3E77CF0FBD}" srcOrd="0" destOrd="0" parTransId="{9F4B16E8-D127-4D33-B00F-108F5F6DE09D}" sibTransId="{333891F4-B433-4AEF-9002-3D46327B8B8D}"/>
    <dgm:cxn modelId="{235EC4E3-62F8-40FB-A313-4FC469F60F39}" srcId="{715C6CFF-3E3B-4294-A547-6B452B3E7370}" destId="{58881E30-FC15-43BD-8595-CBDD1350128A}" srcOrd="1" destOrd="0" parTransId="{DCA6A684-8588-411E-A749-5416BFB6253D}" sibTransId="{6A81904E-E774-461E-B1DF-A177BC918434}"/>
    <dgm:cxn modelId="{DEC191EC-E5D0-4542-BF26-4B4DAC1C5D27}" type="presOf" srcId="{58881E30-FC15-43BD-8595-CBDD1350128A}" destId="{0EE3A60E-0778-46AA-A399-6D93BD354074}" srcOrd="0" destOrd="0" presId="urn:microsoft.com/office/officeart/2018/2/layout/IconLabelDescriptionList"/>
    <dgm:cxn modelId="{26A628F0-263C-4257-B180-C727862EE0F2}" srcId="{8474224C-5BC0-4036-A4AD-A11702C5FCB0}" destId="{BF8F1A65-C9FD-46C6-A418-F3677C3A5103}" srcOrd="1" destOrd="0" parTransId="{B84A51BD-B2FE-4888-A2E1-6A336CB2282A}" sibTransId="{21DC1645-DA78-479B-A477-B2EB3E17A154}"/>
    <dgm:cxn modelId="{85C11756-32B2-44F7-8867-262824E690E7}" type="presParOf" srcId="{0ECB00B0-1BAD-4ED7-A035-F64408138B48}" destId="{D509662E-2A45-4052-9181-6575E082AED5}" srcOrd="0" destOrd="0" presId="urn:microsoft.com/office/officeart/2018/2/layout/IconLabelDescriptionList"/>
    <dgm:cxn modelId="{2F8A6344-B960-4EE5-AF53-C13F7BF05EB2}" type="presParOf" srcId="{D509662E-2A45-4052-9181-6575E082AED5}" destId="{45CB5DD8-6B48-4A44-BDEF-9FC0BC0AB403}" srcOrd="0" destOrd="0" presId="urn:microsoft.com/office/officeart/2018/2/layout/IconLabelDescriptionList"/>
    <dgm:cxn modelId="{1D3CE086-6134-4BB3-A78C-E51D62AF0F70}" type="presParOf" srcId="{D509662E-2A45-4052-9181-6575E082AED5}" destId="{3208738F-7154-4487-8186-FA02A3FBCFDD}" srcOrd="1" destOrd="0" presId="urn:microsoft.com/office/officeart/2018/2/layout/IconLabelDescriptionList"/>
    <dgm:cxn modelId="{18897C56-8325-455C-A963-C96A17E46E00}" type="presParOf" srcId="{D509662E-2A45-4052-9181-6575E082AED5}" destId="{2D02B6D2-924C-4B0C-907D-F505B779561E}" srcOrd="2" destOrd="0" presId="urn:microsoft.com/office/officeart/2018/2/layout/IconLabelDescriptionList"/>
    <dgm:cxn modelId="{ACDD3CEA-AF3C-412A-AD19-4540F6D7D93C}" type="presParOf" srcId="{D509662E-2A45-4052-9181-6575E082AED5}" destId="{5464DEE2-194F-41AF-91FF-66271F07177F}" srcOrd="3" destOrd="0" presId="urn:microsoft.com/office/officeart/2018/2/layout/IconLabelDescriptionList"/>
    <dgm:cxn modelId="{07FE8366-3185-410C-91DD-FC3A83595282}" type="presParOf" srcId="{D509662E-2A45-4052-9181-6575E082AED5}" destId="{639004D9-2208-4380-A009-2782663D4DD9}" srcOrd="4" destOrd="0" presId="urn:microsoft.com/office/officeart/2018/2/layout/IconLabelDescriptionList"/>
    <dgm:cxn modelId="{8BB8784D-BDB5-484F-8112-036551645F18}" type="presParOf" srcId="{0ECB00B0-1BAD-4ED7-A035-F64408138B48}" destId="{1197D901-838A-4B1C-9F11-8DA35B2B2597}" srcOrd="1" destOrd="0" presId="urn:microsoft.com/office/officeart/2018/2/layout/IconLabelDescriptionList"/>
    <dgm:cxn modelId="{E328D7A7-D94F-4F4C-8CB1-ECBB0365FF6E}" type="presParOf" srcId="{0ECB00B0-1BAD-4ED7-A035-F64408138B48}" destId="{5E442973-3B60-42FE-B318-6A803EFEC23D}" srcOrd="2" destOrd="0" presId="urn:microsoft.com/office/officeart/2018/2/layout/IconLabelDescriptionList"/>
    <dgm:cxn modelId="{1A61D6A8-51B8-4904-AAD1-18810D53B6F9}" type="presParOf" srcId="{5E442973-3B60-42FE-B318-6A803EFEC23D}" destId="{649B096B-EE6F-4175-A411-47E41CBC9C41}" srcOrd="0" destOrd="0" presId="urn:microsoft.com/office/officeart/2018/2/layout/IconLabelDescriptionList"/>
    <dgm:cxn modelId="{EFA3149A-F9BB-45F3-876E-D1FC01A58037}" type="presParOf" srcId="{5E442973-3B60-42FE-B318-6A803EFEC23D}" destId="{462FC5E8-9650-4CEB-A98A-43D45DD33A7A}" srcOrd="1" destOrd="0" presId="urn:microsoft.com/office/officeart/2018/2/layout/IconLabelDescriptionList"/>
    <dgm:cxn modelId="{3AFBF0BE-C226-4039-842C-7DB26FBA90A5}" type="presParOf" srcId="{5E442973-3B60-42FE-B318-6A803EFEC23D}" destId="{0EE3A60E-0778-46AA-A399-6D93BD354074}" srcOrd="2" destOrd="0" presId="urn:microsoft.com/office/officeart/2018/2/layout/IconLabelDescriptionList"/>
    <dgm:cxn modelId="{49E0E3C9-A352-400C-A230-320A679FF326}" type="presParOf" srcId="{5E442973-3B60-42FE-B318-6A803EFEC23D}" destId="{3DE8F3BE-90CF-4D99-B441-F109405B5AD3}" srcOrd="3" destOrd="0" presId="urn:microsoft.com/office/officeart/2018/2/layout/IconLabelDescriptionList"/>
    <dgm:cxn modelId="{F72BBC0E-1171-4C03-AEF9-542FE8460AE0}" type="presParOf" srcId="{5E442973-3B60-42FE-B318-6A803EFEC23D}" destId="{51FEAE74-6723-478A-A49A-46E6A74249A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CB5DD8-6B48-4A44-BDEF-9FC0BC0AB403}">
      <dsp:nvSpPr>
        <dsp:cNvPr id="0" name=""/>
        <dsp:cNvSpPr/>
      </dsp:nvSpPr>
      <dsp:spPr>
        <a:xfrm>
          <a:off x="2256" y="717820"/>
          <a:ext cx="1413070" cy="14130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2B6D2-924C-4B0C-907D-F505B779561E}">
      <dsp:nvSpPr>
        <dsp:cNvPr id="0" name=""/>
        <dsp:cNvSpPr/>
      </dsp:nvSpPr>
      <dsp:spPr>
        <a:xfrm>
          <a:off x="2256" y="2249822"/>
          <a:ext cx="4037343" cy="605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3600" kern="1200" baseline="0" dirty="0"/>
            <a:t>Utilisabilité </a:t>
          </a:r>
          <a:endParaRPr lang="en-US" sz="3600" kern="1200" dirty="0"/>
        </a:p>
      </dsp:txBody>
      <dsp:txXfrm>
        <a:off x="2256" y="2249822"/>
        <a:ext cx="4037343" cy="605601"/>
      </dsp:txXfrm>
    </dsp:sp>
    <dsp:sp modelId="{639004D9-2208-4380-A009-2782663D4DD9}">
      <dsp:nvSpPr>
        <dsp:cNvPr id="0" name=""/>
        <dsp:cNvSpPr/>
      </dsp:nvSpPr>
      <dsp:spPr>
        <a:xfrm>
          <a:off x="2256" y="2910740"/>
          <a:ext cx="4037343" cy="572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>
              <a:latin typeface="Century Schoolbook" panose="02040604050505020304"/>
            </a:rPr>
            <a:t>Utilité</a:t>
          </a:r>
          <a:r>
            <a:rPr lang="fr-FR" sz="1700" kern="1200" dirty="0"/>
            <a:t> 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Meilleure expérience de développement?</a:t>
          </a:r>
          <a:endParaRPr lang="en-US" sz="1700" kern="1200" dirty="0"/>
        </a:p>
      </dsp:txBody>
      <dsp:txXfrm>
        <a:off x="2256" y="2910740"/>
        <a:ext cx="4037343" cy="572916"/>
      </dsp:txXfrm>
    </dsp:sp>
    <dsp:sp modelId="{649B096B-EE6F-4175-A411-47E41CBC9C41}">
      <dsp:nvSpPr>
        <dsp:cNvPr id="0" name=""/>
        <dsp:cNvSpPr/>
      </dsp:nvSpPr>
      <dsp:spPr>
        <a:xfrm>
          <a:off x="4746135" y="717820"/>
          <a:ext cx="1413070" cy="14130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3A60E-0778-46AA-A399-6D93BD354074}">
      <dsp:nvSpPr>
        <dsp:cNvPr id="0" name=""/>
        <dsp:cNvSpPr/>
      </dsp:nvSpPr>
      <dsp:spPr>
        <a:xfrm>
          <a:off x="4746135" y="2249822"/>
          <a:ext cx="4037343" cy="605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3600" kern="1200" baseline="0" dirty="0"/>
            <a:t>Performance</a:t>
          </a:r>
          <a:endParaRPr lang="en-US" sz="3600" kern="1200" dirty="0"/>
        </a:p>
      </dsp:txBody>
      <dsp:txXfrm>
        <a:off x="4746135" y="2249822"/>
        <a:ext cx="4037343" cy="605601"/>
      </dsp:txXfrm>
    </dsp:sp>
    <dsp:sp modelId="{51FEAE74-6723-478A-A49A-46E6A74249AF}">
      <dsp:nvSpPr>
        <dsp:cNvPr id="0" name=""/>
        <dsp:cNvSpPr/>
      </dsp:nvSpPr>
      <dsp:spPr>
        <a:xfrm>
          <a:off x="4746135" y="2910740"/>
          <a:ext cx="4037343" cy="572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Temps de latence?</a:t>
          </a:r>
          <a:endParaRPr lang="en-US" sz="1700" kern="1200" dirty="0"/>
        </a:p>
      </dsp:txBody>
      <dsp:txXfrm>
        <a:off x="4746135" y="2910740"/>
        <a:ext cx="4037343" cy="5729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80630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84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855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1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3/26/2024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3/26/2024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3/26/2024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3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1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0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9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9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hade val="98000"/>
                <a:satMod val="130000"/>
                <a:lumMod val="102000"/>
              </a:schemeClr>
            </a:gs>
            <a:gs pos="100000">
              <a:schemeClr val="bg1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5F83622-9C51-462D-849C-7930BC3F9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406"/>
            <a:ext cx="12192000" cy="68608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61872" y="758953"/>
            <a:ext cx="9418320" cy="2944084"/>
          </a:xfrm>
        </p:spPr>
        <p:txBody>
          <a:bodyPr>
            <a:normAutofit/>
          </a:bodyPr>
          <a:lstStyle/>
          <a:p>
            <a:r>
              <a:rPr lang="fr-FR" sz="4500"/>
              <a:t>Synthèse : Design and </a:t>
            </a:r>
            <a:r>
              <a:rPr lang="fr-FR" sz="4500" err="1"/>
              <a:t>Implementation</a:t>
            </a:r>
            <a:r>
              <a:rPr lang="fr-FR" sz="4500"/>
              <a:t> of the </a:t>
            </a:r>
            <a:r>
              <a:rPr lang="fr-FR" sz="4500" err="1"/>
              <a:t>Language</a:t>
            </a:r>
            <a:r>
              <a:rPr lang="fr-FR" sz="4500"/>
              <a:t> Server Protocol for the Nickel </a:t>
            </a:r>
            <a:r>
              <a:rPr lang="fr-FR" sz="4500" err="1"/>
              <a:t>Language</a:t>
            </a:r>
            <a:r>
              <a:rPr lang="fr-FR" sz="4500"/>
              <a:t>, </a:t>
            </a:r>
            <a:r>
              <a:rPr lang="fr-FR" sz="4500" i="1" err="1"/>
              <a:t>Yannik</a:t>
            </a:r>
            <a:r>
              <a:rPr lang="fr-FR" sz="4500" i="1"/>
              <a:t> Sander</a:t>
            </a:r>
            <a:endParaRPr lang="fr-FR" sz="45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797C01-AD12-4343-9A8C-6E992C1A4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9"/>
            <a:ext cx="12192000" cy="2669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61872" y="4611756"/>
            <a:ext cx="9418320" cy="1560443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fr-FR">
              <a:solidFill>
                <a:srgbClr val="FFFFFF">
                  <a:alpha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FF1458-3C85-5CAE-2E0E-0DC056FF7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290" y="365760"/>
            <a:ext cx="5997678" cy="1325562"/>
          </a:xfrm>
        </p:spPr>
        <p:txBody>
          <a:bodyPr>
            <a:normAutofit/>
          </a:bodyPr>
          <a:lstStyle/>
          <a:p>
            <a:r>
              <a:rPr lang="fr-FR"/>
              <a:t>Sommaire</a:t>
            </a:r>
          </a:p>
        </p:txBody>
      </p:sp>
      <p:pic>
        <p:nvPicPr>
          <p:cNvPr id="6" name="Picture 4" descr="Une courbe numérique de marché boursier">
            <a:extLst>
              <a:ext uri="{FF2B5EF4-FFF2-40B4-BE49-F238E27FC236}">
                <a16:creationId xmlns:a16="http://schemas.microsoft.com/office/drawing/2014/main" id="{6D093129-7A57-6927-9F5B-0E46E9FB29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963" r="10884" b="-4"/>
          <a:stretch/>
        </p:blipFill>
        <p:spPr>
          <a:xfrm>
            <a:off x="20" y="10"/>
            <a:ext cx="4653291" cy="685799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BAB444-02E2-189C-B2CB-01AECE9A9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290" y="2005739"/>
            <a:ext cx="6015571" cy="41743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Introduction </a:t>
            </a:r>
          </a:p>
          <a:p>
            <a:r>
              <a:rPr lang="fr-FR" dirty="0"/>
              <a:t>Contexte</a:t>
            </a:r>
          </a:p>
          <a:p>
            <a:r>
              <a:rPr lang="fr-FR" dirty="0"/>
              <a:t>Travaux connexes</a:t>
            </a:r>
          </a:p>
          <a:p>
            <a:r>
              <a:rPr lang="fr-FR" dirty="0"/>
              <a:t>Choix d'implémentation</a:t>
            </a:r>
          </a:p>
          <a:p>
            <a:r>
              <a:rPr lang="fr-FR" dirty="0"/>
              <a:t>Processus d'évaluation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61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420205-B261-1C50-1311-D0D29252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fr-FR"/>
              <a:t>Introduction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FD4078-95B9-6740-6565-A9A55E8AF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9"/>
            <a:ext cx="6015571" cy="41743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fr-FR"/>
          </a:p>
          <a:p>
            <a:endParaRPr lang="fr-FR"/>
          </a:p>
          <a:p>
            <a:endParaRPr lang="fr-FR"/>
          </a:p>
        </p:txBody>
      </p:sp>
      <p:pic>
        <p:nvPicPr>
          <p:cNvPr id="5" name="Picture 4" descr="Puzzle blanc avec une pièce rouge">
            <a:extLst>
              <a:ext uri="{FF2B5EF4-FFF2-40B4-BE49-F238E27FC236}">
                <a16:creationId xmlns:a16="http://schemas.microsoft.com/office/drawing/2014/main" id="{A0F5CC69-4ADD-09D5-D076-F47EBFF28E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39" r="30093" b="-2"/>
          <a:stretch/>
        </p:blipFill>
        <p:spPr>
          <a:xfrm>
            <a:off x="7538689" y="10"/>
            <a:ext cx="465331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889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FDC5A3-6CA8-27BE-9F59-E71BE278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Contexte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70335A-0072-C565-7310-66E401F46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Importance croissante des outils de développement, dans les </a:t>
            </a:r>
            <a:r>
              <a:rPr lang="fr-FR" err="1"/>
              <a:t>IDEs</a:t>
            </a:r>
          </a:p>
          <a:p>
            <a:r>
              <a:rPr lang="fr-FR"/>
              <a:t>Productivité, gestion de projets de logiciels complexes</a:t>
            </a:r>
          </a:p>
          <a:p>
            <a:r>
              <a:rPr lang="fr-FR"/>
              <a:t>Défi de l'intégration de nouveaux langages dans ces outils</a:t>
            </a:r>
          </a:p>
          <a:p>
            <a:r>
              <a:rPr lang="fr-FR"/>
              <a:t>Manque de support</a:t>
            </a:r>
          </a:p>
          <a:p>
            <a:r>
              <a:rPr lang="fr-FR"/>
              <a:t>Efforts considérables pour développer</a:t>
            </a:r>
          </a:p>
        </p:txBody>
      </p:sp>
    </p:spTree>
    <p:extLst>
      <p:ext uri="{BB962C8B-B14F-4D97-AF65-F5344CB8AC3E}">
        <p14:creationId xmlns:p14="http://schemas.microsoft.com/office/powerpoint/2010/main" val="3270616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FDC5A3-6CA8-27BE-9F59-E71BE278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Motivation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70335A-0072-C565-7310-66E401F46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Solution présentée : le LSP</a:t>
            </a:r>
          </a:p>
          <a:p>
            <a:r>
              <a:rPr lang="fr-FR"/>
              <a:t>Répond aux problèmes cités plus tôt</a:t>
            </a:r>
          </a:p>
          <a:p>
            <a:r>
              <a:rPr lang="fr-FR"/>
              <a:t>Choix du langage : Nickel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>
                <a:solidFill>
                  <a:srgbClr val="000000"/>
                </a:solidFill>
              </a:rPr>
              <a:t>Langage</a:t>
            </a:r>
            <a:r>
              <a:rPr lang="fr-FR" spc="10">
                <a:solidFill>
                  <a:srgbClr val="000000"/>
                </a:solidFill>
                <a:ea typeface="+mn-lt"/>
                <a:cs typeface="+mn-lt"/>
              </a:rPr>
              <a:t> nouveau </a:t>
            </a:r>
            <a:endParaRPr lang="fr-FR" spc="1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r>
              <a:rPr lang="fr-FR" spc="10">
                <a:ea typeface="+mn-lt"/>
                <a:cs typeface="+mn-lt"/>
              </a:rPr>
              <a:t>Manque d'outils = opportunité</a:t>
            </a:r>
            <a:endParaRPr lang="fr-FR"/>
          </a:p>
          <a:p>
            <a:r>
              <a:rPr lang="fr-FR">
                <a:solidFill>
                  <a:srgbClr val="000000"/>
                </a:solidFill>
              </a:rPr>
              <a:t>Contribuer à la communauté de développement des serveurs de langage</a:t>
            </a:r>
          </a:p>
          <a:p>
            <a:pPr lvl="1">
              <a:buFont typeface="Courier New" pitchFamily="34" charset="0"/>
              <a:buChar char="o"/>
            </a:pPr>
            <a:endParaRPr lang="fr-FR" spc="10">
              <a:solidFill>
                <a:srgbClr val="000000"/>
              </a:solidFill>
            </a:endParaRPr>
          </a:p>
          <a:p>
            <a:pPr marL="274320" lvl="1" indent="0">
              <a:buNone/>
            </a:pPr>
            <a:endParaRPr lang="fr-FR" spc="1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endParaRPr lang="fr-FR" spc="10">
              <a:solidFill>
                <a:srgbClr val="000000"/>
              </a:solidFill>
            </a:endParaRPr>
          </a:p>
        </p:txBody>
      </p:sp>
      <p:pic>
        <p:nvPicPr>
          <p:cNvPr id="4" name="Image 3" descr="Language Server Extension Guide | Visual Studio Code Extension API">
            <a:extLst>
              <a:ext uri="{FF2B5EF4-FFF2-40B4-BE49-F238E27FC236}">
                <a16:creationId xmlns:a16="http://schemas.microsoft.com/office/drawing/2014/main" id="{58F242C6-7294-139F-A296-6E7385551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667" y="4504327"/>
            <a:ext cx="4289285" cy="198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55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FDC5A3-6CA8-27BE-9F59-E71BE278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Objectifs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70335A-0072-C565-7310-66E401F46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solidFill>
                  <a:srgbClr val="000000"/>
                </a:solidFill>
              </a:rPr>
              <a:t>Développement d'un </a:t>
            </a:r>
            <a:r>
              <a:rPr lang="fr-FR" err="1">
                <a:solidFill>
                  <a:srgbClr val="000000"/>
                </a:solidFill>
              </a:rPr>
              <a:t>Language</a:t>
            </a:r>
            <a:r>
              <a:rPr lang="fr-FR">
                <a:solidFill>
                  <a:srgbClr val="000000"/>
                </a:solidFill>
              </a:rPr>
              <a:t> Server pour Nickel</a:t>
            </a:r>
          </a:p>
          <a:p>
            <a:r>
              <a:rPr lang="fr-FR">
                <a:solidFill>
                  <a:srgbClr val="000000"/>
                </a:solidFill>
              </a:rPr>
              <a:t>Évaluer</a:t>
            </a:r>
            <a:r>
              <a:rPr lang="fr-FR" spc="10">
                <a:solidFill>
                  <a:srgbClr val="000000"/>
                </a:solidFill>
              </a:rPr>
              <a:t> performance et </a:t>
            </a:r>
            <a:r>
              <a:rPr lang="fr-FR">
                <a:solidFill>
                  <a:srgbClr val="000000"/>
                </a:solidFill>
              </a:rPr>
              <a:t>utilité</a:t>
            </a:r>
          </a:p>
          <a:p>
            <a:r>
              <a:rPr lang="fr-FR">
                <a:solidFill>
                  <a:srgbClr val="000000"/>
                </a:solidFill>
              </a:rPr>
              <a:t>Documenter</a:t>
            </a:r>
            <a:r>
              <a:rPr lang="fr-FR" spc="10">
                <a:solidFill>
                  <a:srgbClr val="000000"/>
                </a:solidFill>
              </a:rPr>
              <a:t> le processus de conception et d'implémentation </a:t>
            </a:r>
            <a:endParaRPr lang="fr-FR">
              <a:solidFill>
                <a:srgbClr val="000000"/>
              </a:solidFill>
            </a:endParaRPr>
          </a:p>
          <a:p>
            <a:r>
              <a:rPr lang="fr-FR" spc="10">
                <a:solidFill>
                  <a:srgbClr val="000000"/>
                </a:solidFill>
              </a:rPr>
              <a:t>Fournir une ressource pour les futurs projets </a:t>
            </a:r>
            <a:r>
              <a:rPr lang="fr-FR">
                <a:solidFill>
                  <a:srgbClr val="000000"/>
                </a:solidFill>
              </a:rPr>
              <a:t>similaires</a:t>
            </a:r>
          </a:p>
          <a:p>
            <a:r>
              <a:rPr lang="fr-FR">
                <a:solidFill>
                  <a:srgbClr val="000000"/>
                </a:solidFill>
              </a:rPr>
              <a:t>Faciliter</a:t>
            </a:r>
            <a:r>
              <a:rPr lang="fr-FR" spc="10">
                <a:solidFill>
                  <a:srgbClr val="000000"/>
                </a:solidFill>
              </a:rPr>
              <a:t> l'adoption d'autres langages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010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420205-B261-1C50-1311-D0D29252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fr-FR" dirty="0"/>
              <a:t>Contexte actuel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FD4078-95B9-6740-6565-A9A55E8AF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9"/>
            <a:ext cx="6015571" cy="41743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fr-FR">
              <a:latin typeface="Century Schoolbook"/>
              <a:cs typeface="Arial"/>
            </a:endParaRPr>
          </a:p>
          <a:p>
            <a:endParaRPr lang="fr-FR">
              <a:latin typeface="Century Schoolbook"/>
              <a:cs typeface="Arial"/>
            </a:endParaRPr>
          </a:p>
          <a:p>
            <a:endParaRPr lang="fr-FR">
              <a:latin typeface="Century Schoolbook"/>
              <a:cs typeface="Arial"/>
            </a:endParaRP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3C1C4760-1997-2A6E-CCBB-91FC528113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35" r="34240" b="-3"/>
          <a:stretch/>
        </p:blipFill>
        <p:spPr>
          <a:xfrm>
            <a:off x="7538689" y="10"/>
            <a:ext cx="465331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18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EDE7E6-B5CB-9C93-577C-9E09B65E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 </a:t>
            </a:r>
            <a:r>
              <a:rPr lang="fr-FR" err="1"/>
              <a:t>Language</a:t>
            </a:r>
            <a:r>
              <a:rPr lang="fr-FR"/>
              <a:t> Server Protocol (LSP)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B80FEE-72F3-88EC-13B3-DD5D36C75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Standardiser la communication avec les </a:t>
            </a:r>
            <a:r>
              <a:rPr lang="fr-FR" err="1"/>
              <a:t>Language</a:t>
            </a:r>
            <a:r>
              <a:rPr lang="fr-FR"/>
              <a:t> Servers</a:t>
            </a:r>
          </a:p>
          <a:p>
            <a:r>
              <a:rPr lang="fr-FR"/>
              <a:t>Intégration aisée de support pour divers langages</a:t>
            </a:r>
          </a:p>
          <a:p>
            <a:r>
              <a:rPr lang="fr-FR"/>
              <a:t>Ne plus dépendre d'un éditeur spécifique</a:t>
            </a:r>
          </a:p>
          <a:p>
            <a:r>
              <a:rPr lang="fr-FR"/>
              <a:t>Données structurées grâce à JSON-RPC</a:t>
            </a:r>
          </a:p>
          <a:p>
            <a:endParaRPr lang="fr-FR"/>
          </a:p>
        </p:txBody>
      </p:sp>
      <p:pic>
        <p:nvPicPr>
          <p:cNvPr id="4" name="Image 3" descr="Vue d'ensemble du protocole Language Server - Visual Studio (Windows) |  Microsoft Learn">
            <a:extLst>
              <a:ext uri="{FF2B5EF4-FFF2-40B4-BE49-F238E27FC236}">
                <a16:creationId xmlns:a16="http://schemas.microsoft.com/office/drawing/2014/main" id="{3A12DAF2-12BA-69CA-E036-998FE530388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458" y="3757126"/>
            <a:ext cx="6653838" cy="276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8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EDE7E6-B5CB-9C93-577C-9E09B65E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 </a:t>
            </a:r>
            <a:r>
              <a:rPr lang="fr-FR" err="1"/>
              <a:t>Language</a:t>
            </a:r>
            <a:r>
              <a:rPr lang="fr-FR"/>
              <a:t> Server Protocol (LSP)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B80FEE-72F3-88EC-13B3-DD5D36C75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Commandes et Notifications</a:t>
            </a:r>
          </a:p>
          <a:p>
            <a:r>
              <a:rPr lang="fr-FR" dirty="0"/>
              <a:t>Méthodes clés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err="1">
                <a:solidFill>
                  <a:srgbClr val="000000"/>
                </a:solidFill>
              </a:rPr>
              <a:t>Autocomplétion</a:t>
            </a:r>
            <a:endParaRPr lang="fr-FR" spc="1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Définition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Informations au survol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Diagnostics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Formatage de document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Références</a:t>
            </a:r>
          </a:p>
        </p:txBody>
      </p:sp>
    </p:spTree>
    <p:extLst>
      <p:ext uri="{BB962C8B-B14F-4D97-AF65-F5344CB8AC3E}">
        <p14:creationId xmlns:p14="http://schemas.microsoft.com/office/powerpoint/2010/main" val="3618355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EDE7E6-B5CB-9C93-577C-9E09B65E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Configuration textuelle et langage Nickel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B80FEE-72F3-88EC-13B3-DD5D36C75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fr-FR" dirty="0"/>
              <a:t>Langages de configurations populaires : JSON, YAML</a:t>
            </a:r>
          </a:p>
          <a:p>
            <a:r>
              <a:rPr lang="fr-FR" dirty="0"/>
              <a:t>Langage de programmation de configuration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chemeClr val="tx1"/>
                </a:solidFill>
              </a:rPr>
              <a:t>Configurations</a:t>
            </a:r>
            <a:r>
              <a:rPr lang="fr-FR" spc="10" dirty="0">
                <a:solidFill>
                  <a:schemeClr val="tx1"/>
                </a:solidFill>
                <a:ea typeface="+mn-lt"/>
                <a:cs typeface="+mn-lt"/>
              </a:rPr>
              <a:t> dynamiques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chemeClr val="tx1"/>
                </a:solidFill>
                <a:ea typeface="+mn-lt"/>
                <a:cs typeface="+mn-lt"/>
              </a:rPr>
              <a:t>Nickel </a:t>
            </a:r>
            <a:endParaRPr lang="fr-FR" spc="10" dirty="0">
              <a:solidFill>
                <a:schemeClr val="tx1"/>
              </a:solidFill>
            </a:endParaRPr>
          </a:p>
          <a:p>
            <a:r>
              <a:rPr lang="fr-FR" dirty="0"/>
              <a:t>Infrastructure</a:t>
            </a:r>
            <a:r>
              <a:rPr lang="fr-FR" sz="1800" spc="10" dirty="0"/>
              <a:t> as Code (</a:t>
            </a:r>
            <a:r>
              <a:rPr lang="fr-FR" sz="1800" spc="10" dirty="0" err="1"/>
              <a:t>IaC</a:t>
            </a:r>
            <a:r>
              <a:rPr lang="fr-FR" sz="1800" spc="10" dirty="0"/>
              <a:t>)</a:t>
            </a:r>
          </a:p>
          <a:p>
            <a:r>
              <a:rPr lang="fr-FR" dirty="0"/>
              <a:t>Nickel</a:t>
            </a:r>
          </a:p>
          <a:p>
            <a:pPr lvl="1">
              <a:buFont typeface="Courier New" pitchFamily="18" charset="2"/>
              <a:buChar char="o"/>
            </a:pPr>
            <a:r>
              <a:rPr lang="fr-FR" spc="10" dirty="0">
                <a:solidFill>
                  <a:srgbClr val="000000"/>
                </a:solidFill>
              </a:rPr>
              <a:t>Fichiers de configuration</a:t>
            </a:r>
          </a:p>
          <a:p>
            <a:pPr lvl="1">
              <a:buFont typeface="Courier New" pitchFamily="18" charset="2"/>
              <a:buChar char="o"/>
            </a:pPr>
            <a:r>
              <a:rPr lang="fr-FR" spc="10" dirty="0">
                <a:solidFill>
                  <a:srgbClr val="000000"/>
                </a:solidFill>
              </a:rPr>
              <a:t>Vérifiable, validable</a:t>
            </a:r>
            <a:endParaRPr lang="fr-FR" dirty="0"/>
          </a:p>
          <a:p>
            <a:pPr lvl="1">
              <a:buFont typeface="Courier New" pitchFamily="18" charset="2"/>
              <a:buChar char="o"/>
            </a:pPr>
            <a:r>
              <a:rPr lang="fr-FR" spc="10" dirty="0">
                <a:solidFill>
                  <a:schemeClr val="tx1"/>
                </a:solidFill>
              </a:rPr>
              <a:t>Typage progressif</a:t>
            </a:r>
          </a:p>
          <a:p>
            <a:endParaRPr lang="fr-FR" sz="1600" dirty="0"/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229291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420205-B261-1C50-1311-D0D29252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fr-FR"/>
              <a:t>Travaux Connexes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FD4078-95B9-6740-6565-A9A55E8AF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9"/>
            <a:ext cx="6015571" cy="41743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fr-FR">
              <a:latin typeface="Century Schoolbook"/>
              <a:cs typeface="Arial"/>
            </a:endParaRPr>
          </a:p>
          <a:p>
            <a:endParaRPr lang="fr-FR">
              <a:latin typeface="Century Schoolbook"/>
              <a:cs typeface="Arial"/>
            </a:endParaRPr>
          </a:p>
          <a:p>
            <a:endParaRPr lang="fr-FR">
              <a:latin typeface="Century Schoolbook"/>
              <a:cs typeface="Arial"/>
            </a:endParaRPr>
          </a:p>
        </p:txBody>
      </p:sp>
      <p:pic>
        <p:nvPicPr>
          <p:cNvPr id="19" name="Picture 17" descr="Electronic circuit board">
            <a:extLst>
              <a:ext uri="{FF2B5EF4-FFF2-40B4-BE49-F238E27FC236}">
                <a16:creationId xmlns:a16="http://schemas.microsoft.com/office/drawing/2014/main" id="{C2560FF2-A079-2E60-59EA-FF84143D60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774" r="9001" b="-3"/>
          <a:stretch/>
        </p:blipFill>
        <p:spPr>
          <a:xfrm>
            <a:off x="7538689" y="10"/>
            <a:ext cx="465331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93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C1EC6D-D330-B2AA-8BB3-17B47F553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Support IDE traditionnel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941939-DA37-8BD9-A42C-101F891CC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Gros efforts de développement</a:t>
            </a:r>
          </a:p>
          <a:p>
            <a:r>
              <a:rPr lang="fr-FR" dirty="0"/>
              <a:t>Implémentations redondantes</a:t>
            </a:r>
          </a:p>
          <a:p>
            <a:r>
              <a:rPr lang="fr-FR" dirty="0"/>
              <a:t>Nombre limité de langages</a:t>
            </a:r>
          </a:p>
          <a:p>
            <a:r>
              <a:rPr lang="fr-FR" dirty="0"/>
              <a:t>Langages les moins populaires en manque d'outils</a:t>
            </a:r>
          </a:p>
        </p:txBody>
      </p:sp>
    </p:spTree>
    <p:extLst>
      <p:ext uri="{BB962C8B-B14F-4D97-AF65-F5344CB8AC3E}">
        <p14:creationId xmlns:p14="http://schemas.microsoft.com/office/powerpoint/2010/main" val="2683314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C1EC6D-D330-B2AA-8BB3-17B47F553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Abstractions Client-Serveur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941939-DA37-8BD9-A42C-101F891CC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26835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itchFamily="34" charset="0"/>
              <a:buChar char="Ø"/>
            </a:pPr>
            <a:r>
              <a:rPr lang="fr-FR" err="1"/>
              <a:t>Monto</a:t>
            </a:r>
            <a:r>
              <a:rPr lang="fr-FR"/>
              <a:t> </a:t>
            </a:r>
          </a:p>
          <a:p>
            <a:pPr marL="4572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Tx/>
              <a:buFont typeface="Wingdings" pitchFamily="34" charset="0"/>
              <a:buChar char="Ø"/>
            </a:pPr>
            <a:r>
              <a:rPr lang="fr-FR" sz="1600">
                <a:solidFill>
                  <a:srgbClr val="000000"/>
                </a:solidFill>
                <a:ea typeface="+mn-lt"/>
                <a:cs typeface="+mn-lt"/>
              </a:rPr>
              <a:t>Crée une copie numérique standardisée </a:t>
            </a:r>
          </a:p>
          <a:p>
            <a:pPr lvl="1">
              <a:buFont typeface="Wingdings" pitchFamily="18" charset="2"/>
              <a:buChar char="Ø"/>
            </a:pPr>
            <a:r>
              <a:rPr lang="fr-FR" spc="10">
                <a:solidFill>
                  <a:srgbClr val="000000"/>
                </a:solidFill>
                <a:ea typeface="+mn-lt"/>
                <a:cs typeface="+mn-lt"/>
              </a:rPr>
              <a:t>Exposée à plusieurs </a:t>
            </a:r>
            <a:r>
              <a:rPr lang="fr-FR" spc="10" err="1">
                <a:solidFill>
                  <a:srgbClr val="000000"/>
                </a:solidFill>
                <a:ea typeface="+mn-lt"/>
                <a:cs typeface="+mn-lt"/>
              </a:rPr>
              <a:t>IDEs</a:t>
            </a:r>
            <a:r>
              <a:rPr lang="fr-FR" spc="1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fr-FR">
              <a:ea typeface="+mn-lt"/>
              <a:cs typeface="+mn-lt"/>
            </a:endParaRPr>
          </a:p>
          <a:p>
            <a:pPr lvl="1">
              <a:buFont typeface="Wingdings" pitchFamily="18" charset="2"/>
              <a:buChar char="Ø"/>
            </a:pPr>
            <a:r>
              <a:rPr lang="fr-FR" spc="10">
                <a:solidFill>
                  <a:srgbClr val="000000"/>
                </a:solidFill>
                <a:ea typeface="+mn-lt"/>
                <a:cs typeface="+mn-lt"/>
              </a:rPr>
              <a:t>Messager entre les requêtes de l'IDE et le serveur de langage </a:t>
            </a:r>
            <a:endParaRPr lang="fr-FR">
              <a:ea typeface="+mn-lt"/>
              <a:cs typeface="+mn-lt"/>
            </a:endParaRPr>
          </a:p>
          <a:p>
            <a:pPr>
              <a:buFont typeface="Wingdings" pitchFamily="34" charset="0"/>
              <a:buChar char="Ø"/>
            </a:pPr>
            <a:r>
              <a:rPr lang="fr-FR">
                <a:solidFill>
                  <a:srgbClr val="000000"/>
                </a:solidFill>
              </a:rPr>
              <a:t>Merlin</a:t>
            </a:r>
            <a:endParaRPr lang="fr-FR" spc="10">
              <a:solidFill>
                <a:srgbClr val="000000"/>
              </a:solidFill>
            </a:endParaRPr>
          </a:p>
          <a:p>
            <a:pPr lvl="1">
              <a:buFont typeface="Wingdings" pitchFamily="34" charset="0"/>
              <a:buChar char="Ø"/>
            </a:pPr>
            <a:r>
              <a:rPr lang="fr-FR" spc="10">
                <a:solidFill>
                  <a:srgbClr val="000000"/>
                </a:solidFill>
              </a:rPr>
              <a:t>Assistant pour le développement </a:t>
            </a:r>
            <a:r>
              <a:rPr lang="fr-FR" spc="10" err="1">
                <a:solidFill>
                  <a:srgbClr val="000000"/>
                </a:solidFill>
              </a:rPr>
              <a:t>OCaml</a:t>
            </a:r>
          </a:p>
          <a:p>
            <a:pPr lvl="1">
              <a:buFont typeface="Wingdings" pitchFamily="34" charset="0"/>
              <a:buChar char="Ø"/>
            </a:pPr>
            <a:r>
              <a:rPr lang="fr-FR" spc="10" err="1">
                <a:solidFill>
                  <a:srgbClr val="000000"/>
                </a:solidFill>
              </a:rPr>
              <a:t>Language</a:t>
            </a:r>
            <a:r>
              <a:rPr lang="fr-FR" spc="10">
                <a:solidFill>
                  <a:srgbClr val="000000"/>
                </a:solidFill>
              </a:rPr>
              <a:t> Server</a:t>
            </a:r>
          </a:p>
          <a:p>
            <a:pPr lvl="1">
              <a:buFont typeface="Wingdings" pitchFamily="34" charset="0"/>
              <a:buChar char="Ø"/>
            </a:pPr>
            <a:r>
              <a:rPr lang="fr-FR" spc="10">
                <a:solidFill>
                  <a:srgbClr val="000000"/>
                </a:solidFill>
              </a:rPr>
              <a:t>S'intègre avec la plupart des éditeurs</a:t>
            </a:r>
          </a:p>
          <a:p>
            <a:pPr lvl="2">
              <a:buFont typeface="Wingdings" pitchFamily="34" charset="0"/>
              <a:buChar char="§"/>
            </a:pPr>
            <a:endParaRPr lang="fr-FR" spc="10">
              <a:solidFill>
                <a:srgbClr val="000000"/>
              </a:solidFill>
            </a:endParaRPr>
          </a:p>
        </p:txBody>
      </p:sp>
      <p:pic>
        <p:nvPicPr>
          <p:cNvPr id="5" name="Image 4" descr="OCaml - Merlin | An editor service that provides advanced IDE features for  OCaml.">
            <a:extLst>
              <a:ext uri="{FF2B5EF4-FFF2-40B4-BE49-F238E27FC236}">
                <a16:creationId xmlns:a16="http://schemas.microsoft.com/office/drawing/2014/main" id="{E7A13A40-4D77-0AB0-A5A2-F4408BBB4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929" y="4222627"/>
            <a:ext cx="1518255" cy="153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75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449F3-55F4-F77B-7421-FCBA5287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ea typeface="+mj-lt"/>
                <a:cs typeface="+mj-lt"/>
              </a:rPr>
              <a:t>Serveurs de Langage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3C7822-39B4-C527-4539-998FA02B9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Intégration avec le Compilateur/Runtime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Haskell </a:t>
            </a:r>
            <a:r>
              <a:rPr lang="fr-FR" spc="10" dirty="0" err="1">
                <a:solidFill>
                  <a:srgbClr val="000000"/>
                </a:solidFill>
              </a:rPr>
              <a:t>Language</a:t>
            </a:r>
            <a:r>
              <a:rPr lang="fr-FR" spc="10" dirty="0">
                <a:solidFill>
                  <a:srgbClr val="000000"/>
                </a:solidFill>
              </a:rPr>
              <a:t> Server, </a:t>
            </a:r>
            <a:r>
              <a:rPr lang="fr-FR" spc="10" dirty="0" err="1">
                <a:solidFill>
                  <a:srgbClr val="000000"/>
                </a:solidFill>
              </a:rPr>
              <a:t>OCaml</a:t>
            </a:r>
            <a:r>
              <a:rPr lang="fr-FR" spc="10" dirty="0">
                <a:solidFill>
                  <a:srgbClr val="000000"/>
                </a:solidFill>
              </a:rPr>
              <a:t> LSP, Rust-Analyzer, Frege LSP</a:t>
            </a:r>
            <a:endParaRPr lang="fr-FR" dirty="0"/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Utilisent leur compilateur pour suggérer des solutions personnalisées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Optimisation et performances</a:t>
            </a:r>
            <a:endParaRPr lang="fr-FR" dirty="0"/>
          </a:p>
          <a:p>
            <a:r>
              <a:rPr lang="fr-FR" dirty="0">
                <a:solidFill>
                  <a:srgbClr val="0070C0"/>
                </a:solidFill>
              </a:rPr>
              <a:t>Serveurs de Langage comme Interface aux Outils CLI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70C0"/>
                </a:solidFill>
              </a:rPr>
              <a:t>LS -&gt;requête CLI -&gt;analyse LS -&gt;traduction IDE</a:t>
            </a:r>
          </a:p>
          <a:p>
            <a:r>
              <a:rPr lang="fr-FR" dirty="0"/>
              <a:t>Génération de serveurs de langage pour langages spécifiques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Domain </a:t>
            </a:r>
            <a:r>
              <a:rPr lang="fr-FR" spc="10" dirty="0" err="1">
                <a:solidFill>
                  <a:srgbClr val="000000"/>
                </a:solidFill>
              </a:rPr>
              <a:t>Specific</a:t>
            </a:r>
            <a:r>
              <a:rPr lang="fr-FR" spc="10" dirty="0">
                <a:solidFill>
                  <a:srgbClr val="000000"/>
                </a:solidFill>
              </a:rPr>
              <a:t> </a:t>
            </a:r>
            <a:r>
              <a:rPr lang="fr-FR" spc="10" dirty="0" err="1">
                <a:solidFill>
                  <a:srgbClr val="000000"/>
                </a:solidFill>
              </a:rPr>
              <a:t>Language</a:t>
            </a:r>
            <a:r>
              <a:rPr lang="fr-FR" spc="10" dirty="0">
                <a:solidFill>
                  <a:srgbClr val="000000"/>
                </a:solidFill>
              </a:rPr>
              <a:t> (DSL)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Automatiser des serveurs 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Utilisation d'outils prenant en charge les éléments communs du LSP (</a:t>
            </a:r>
            <a:r>
              <a:rPr lang="fr-FR" spc="10" dirty="0" err="1">
                <a:solidFill>
                  <a:srgbClr val="000000"/>
                </a:solidFill>
              </a:rPr>
              <a:t>autocomplétion</a:t>
            </a:r>
            <a:r>
              <a:rPr lang="fr-FR" spc="10" dirty="0">
                <a:solidFill>
                  <a:srgbClr val="000000"/>
                </a:solidFill>
              </a:rPr>
              <a:t>, diagnostics, …)</a:t>
            </a:r>
          </a:p>
        </p:txBody>
      </p:sp>
    </p:spTree>
    <p:extLst>
      <p:ext uri="{BB962C8B-B14F-4D97-AF65-F5344CB8AC3E}">
        <p14:creationId xmlns:p14="http://schemas.microsoft.com/office/powerpoint/2010/main" val="1430305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449F3-55F4-F77B-7421-FCBA5287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ea typeface="+mj-lt"/>
                <a:cs typeface="+mj-lt"/>
              </a:rPr>
              <a:t>Approches alternatives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3C7822-39B4-C527-4539-998FA02B9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rgbClr val="000000"/>
                </a:solidFill>
              </a:rPr>
              <a:t>Extensions de LSP</a:t>
            </a:r>
            <a:endParaRPr lang="fr-FR" sz="1600" dirty="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LSP</a:t>
            </a:r>
            <a:r>
              <a:rPr lang="fr-FR" spc="10" dirty="0">
                <a:solidFill>
                  <a:srgbClr val="000000"/>
                </a:solidFill>
                <a:ea typeface="+mn-lt"/>
                <a:cs typeface="+mn-lt"/>
              </a:rPr>
              <a:t> ne couvre pas tous les besoins des développeurs </a:t>
            </a:r>
            <a:endParaRPr lang="fr-FR" dirty="0">
              <a:solidFill>
                <a:srgbClr val="262626"/>
              </a:solidFill>
              <a:ea typeface="+mn-lt"/>
              <a:cs typeface="+mn-lt"/>
            </a:endParaRPr>
          </a:p>
          <a:p>
            <a:pPr lvl="1">
              <a:buFont typeface="Courier New" pitchFamily="34" charset="0"/>
              <a:buChar char="o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Exemple : ne peut pas transférer des images </a:t>
            </a:r>
            <a:endParaRPr lang="fr-FR" spc="10" dirty="0">
              <a:solidFill>
                <a:srgbClr val="262626"/>
              </a:solidFill>
              <a:ea typeface="+mn-lt"/>
              <a:cs typeface="+mn-lt"/>
            </a:endParaRP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  <a:ea typeface="+mn-lt"/>
                <a:cs typeface="+mn-lt"/>
              </a:rPr>
              <a:t>On peut définir des commandes non-standard</a:t>
            </a:r>
            <a:endParaRPr lang="fr-FR" spc="10" dirty="0">
              <a:ea typeface="+mn-lt"/>
              <a:cs typeface="+mn-lt"/>
            </a:endParaRPr>
          </a:p>
          <a:p>
            <a:r>
              <a:rPr lang="fr-FR" dirty="0">
                <a:solidFill>
                  <a:srgbClr val="000000"/>
                </a:solidFill>
              </a:rPr>
              <a:t>LSIF – </a:t>
            </a:r>
            <a:r>
              <a:rPr lang="fr-FR" dirty="0" err="1">
                <a:solidFill>
                  <a:srgbClr val="000000"/>
                </a:solidFill>
              </a:rPr>
              <a:t>Language</a:t>
            </a:r>
            <a:r>
              <a:rPr lang="fr-FR" dirty="0">
                <a:solidFill>
                  <a:srgbClr val="000000"/>
                </a:solidFill>
              </a:rPr>
              <a:t> Server Index Format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Indexer toutes les variables et la localisation de chaque élément</a:t>
            </a:r>
            <a:endParaRPr lang="fr-FR" sz="1800" spc="10" dirty="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Opérations plus rapides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Pas besoin de faire des analyses complètes redondantes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Format inclus progressivement dans les LS</a:t>
            </a:r>
            <a:endParaRPr lang="fr-FR" dirty="0">
              <a:solidFill>
                <a:srgbClr val="000000"/>
              </a:solidFill>
            </a:endParaRPr>
          </a:p>
          <a:p>
            <a:r>
              <a:rPr lang="fr-FR" dirty="0">
                <a:solidFill>
                  <a:srgbClr val="000000"/>
                </a:solidFill>
              </a:rPr>
              <a:t>BSP</a:t>
            </a:r>
          </a:p>
          <a:p>
            <a:pPr lvl="1"/>
            <a:r>
              <a:rPr lang="fr-FR" spc="10" dirty="0">
                <a:solidFill>
                  <a:srgbClr val="000000"/>
                </a:solidFill>
              </a:rPr>
              <a:t>Même principe que le LSP, compilation à distance</a:t>
            </a:r>
          </a:p>
          <a:p>
            <a:pPr lvl="1"/>
            <a:r>
              <a:rPr lang="fr-FR" spc="10" dirty="0">
                <a:solidFill>
                  <a:srgbClr val="000000"/>
                </a:solidFill>
              </a:rPr>
              <a:t>Utilisable avec ou sans LSP</a:t>
            </a:r>
          </a:p>
        </p:txBody>
      </p:sp>
    </p:spTree>
    <p:extLst>
      <p:ext uri="{BB962C8B-B14F-4D97-AF65-F5344CB8AC3E}">
        <p14:creationId xmlns:p14="http://schemas.microsoft.com/office/powerpoint/2010/main" val="4075434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420205-B261-1C50-1311-D0D29252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fr-FR"/>
              <a:t>Choix d'implémentation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FD4078-95B9-6740-6565-A9A55E8AF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9"/>
            <a:ext cx="6015571" cy="41743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fr-FR">
              <a:latin typeface="Century Schoolbook"/>
              <a:cs typeface="Arial"/>
            </a:endParaRPr>
          </a:p>
          <a:p>
            <a:endParaRPr lang="fr-FR">
              <a:latin typeface="Century Schoolbook"/>
              <a:cs typeface="Arial"/>
            </a:endParaRPr>
          </a:p>
          <a:p>
            <a:endParaRPr lang="fr-FR">
              <a:latin typeface="Century Schoolbook"/>
              <a:cs typeface="Arial"/>
            </a:endParaRPr>
          </a:p>
        </p:txBody>
      </p:sp>
      <p:pic>
        <p:nvPicPr>
          <p:cNvPr id="32" name="Picture 31" descr="Flèches pointant vers différentes directions">
            <a:extLst>
              <a:ext uri="{FF2B5EF4-FFF2-40B4-BE49-F238E27FC236}">
                <a16:creationId xmlns:a16="http://schemas.microsoft.com/office/drawing/2014/main" id="{F286A3B7-0486-22F3-BCA0-A723FB2F24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492" r="27341"/>
          <a:stretch/>
        </p:blipFill>
        <p:spPr>
          <a:xfrm>
            <a:off x="7538689" y="10"/>
            <a:ext cx="465331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36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449F3-55F4-F77B-7421-FCBA5287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+mj-lt"/>
                <a:cs typeface="+mj-lt"/>
              </a:rPr>
              <a:t>Objectifs clés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3C7822-39B4-C527-4539-998FA02B9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solidFill>
                  <a:srgbClr val="000000"/>
                </a:solidFill>
              </a:rPr>
              <a:t>Performance : temps</a:t>
            </a:r>
            <a:r>
              <a:rPr lang="fr-FR" spc="10">
                <a:solidFill>
                  <a:srgbClr val="000000"/>
                </a:solidFill>
              </a:rPr>
              <a:t> de réponse</a:t>
            </a:r>
          </a:p>
          <a:p>
            <a:r>
              <a:rPr lang="fr-FR">
                <a:solidFill>
                  <a:srgbClr val="000000"/>
                </a:solidFill>
              </a:rPr>
              <a:t>Capacité : fonctionnalités essentielles</a:t>
            </a:r>
          </a:p>
          <a:p>
            <a:r>
              <a:rPr lang="fr-FR">
                <a:solidFill>
                  <a:srgbClr val="000000"/>
                </a:solidFill>
              </a:rPr>
              <a:t>Flexibilité : s'adapter aux changements du langage</a:t>
            </a:r>
          </a:p>
          <a:p>
            <a:r>
              <a:rPr lang="fr-FR">
                <a:solidFill>
                  <a:srgbClr val="000000"/>
                </a:solidFill>
              </a:rPr>
              <a:t>Popularisation : solution qui va servir de modèle</a:t>
            </a:r>
          </a:p>
          <a:p>
            <a:endParaRPr 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932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449F3-55F4-F77B-7421-FCBA5287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+mj-lt"/>
                <a:cs typeface="+mj-lt"/>
              </a:rPr>
              <a:t>Décision de conception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3C7822-39B4-C527-4539-998FA02B9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>
                <a:solidFill>
                  <a:srgbClr val="000000"/>
                </a:solidFill>
              </a:rPr>
              <a:t>Choix du langage : Rust 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>
                <a:solidFill>
                  <a:srgbClr val="000000"/>
                </a:solidFill>
              </a:rPr>
              <a:t>Nickel codé en Rust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>
                <a:solidFill>
                  <a:srgbClr val="000000"/>
                </a:solidFill>
              </a:rPr>
              <a:t>Intégration facile des composants Nickel</a:t>
            </a:r>
            <a:endParaRPr lang="fr-FR">
              <a:solidFill>
                <a:srgbClr val="000000"/>
              </a:solidFill>
            </a:endParaRPr>
          </a:p>
          <a:p>
            <a:r>
              <a:rPr lang="fr-FR">
                <a:solidFill>
                  <a:srgbClr val="000000"/>
                </a:solidFill>
              </a:rPr>
              <a:t>Traitement des fichiers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>
                <a:solidFill>
                  <a:srgbClr val="000000"/>
                </a:solidFill>
              </a:rPr>
              <a:t>Analyse complète du fichier 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>
                <a:solidFill>
                  <a:srgbClr val="000000"/>
                </a:solidFill>
              </a:rPr>
              <a:t>Projets Nickel peu volumineux</a:t>
            </a:r>
            <a:endParaRPr lang="fr-FR">
              <a:solidFill>
                <a:srgbClr val="000000"/>
              </a:solidFill>
            </a:endParaRPr>
          </a:p>
          <a:p>
            <a:r>
              <a:rPr lang="fr-FR">
                <a:solidFill>
                  <a:srgbClr val="000000"/>
                </a:solidFill>
              </a:rPr>
              <a:t>Analyse de code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>
                <a:solidFill>
                  <a:srgbClr val="000000"/>
                </a:solidFill>
              </a:rPr>
              <a:t>Répondre aux requêtes sans délai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err="1">
                <a:solidFill>
                  <a:srgbClr val="000000"/>
                </a:solidFill>
              </a:rPr>
              <a:t>Pré-traiter</a:t>
            </a:r>
            <a:r>
              <a:rPr lang="fr-FR" spc="10">
                <a:solidFill>
                  <a:srgbClr val="000000"/>
                </a:solidFill>
              </a:rPr>
              <a:t> les données</a:t>
            </a:r>
          </a:p>
        </p:txBody>
      </p:sp>
    </p:spTree>
    <p:extLst>
      <p:ext uri="{BB962C8B-B14F-4D97-AF65-F5344CB8AC3E}">
        <p14:creationId xmlns:p14="http://schemas.microsoft.com/office/powerpoint/2010/main" val="3346423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449F3-55F4-F77B-7421-FCBA5287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+mj-lt"/>
                <a:cs typeface="+mj-lt"/>
              </a:rPr>
              <a:t>Architecture de haut niveau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3C7822-39B4-C527-4539-998FA02B9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Représentation interne du code source 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  <a:ea typeface="+mn-lt"/>
                <a:cs typeface="+mn-lt"/>
              </a:rPr>
              <a:t>2 états possibles : Building ou </a:t>
            </a:r>
            <a:r>
              <a:rPr lang="fr-FR" spc="10" dirty="0" err="1">
                <a:solidFill>
                  <a:srgbClr val="000000"/>
                </a:solidFill>
                <a:ea typeface="+mn-lt"/>
                <a:cs typeface="+mn-lt"/>
              </a:rPr>
              <a:t>Completed</a:t>
            </a:r>
            <a:endParaRPr lang="fr-FR" spc="10" dirty="0" err="1">
              <a:solidFill>
                <a:srgbClr val="000000"/>
              </a:solidFill>
            </a:endParaRPr>
          </a:p>
          <a:p>
            <a:r>
              <a:rPr lang="fr-FR" err="1">
                <a:solidFill>
                  <a:srgbClr val="0070C0"/>
                </a:solidFill>
              </a:rPr>
              <a:t>Linearization</a:t>
            </a:r>
            <a:r>
              <a:rPr lang="fr-FR" dirty="0">
                <a:solidFill>
                  <a:srgbClr val="0070C0"/>
                </a:solidFill>
              </a:rPr>
              <a:t> Items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70C0"/>
                </a:solidFill>
              </a:rPr>
              <a:t>Représentations abstraites d'unités de code</a:t>
            </a:r>
          </a:p>
          <a:p>
            <a:r>
              <a:rPr lang="fr-FR" dirty="0">
                <a:solidFill>
                  <a:srgbClr val="0070C0"/>
                </a:solidFill>
              </a:rPr>
              <a:t>Trait </a:t>
            </a:r>
            <a:r>
              <a:rPr lang="fr-FR" err="1">
                <a:solidFill>
                  <a:srgbClr val="0070C0"/>
                </a:solidFill>
              </a:rPr>
              <a:t>Linearizer</a:t>
            </a:r>
            <a:endParaRPr lang="fr-FR">
              <a:solidFill>
                <a:srgbClr val="0070C0"/>
              </a:solidFill>
            </a:endParaRPr>
          </a:p>
          <a:p>
            <a:r>
              <a:rPr lang="fr-FR" dirty="0">
                <a:solidFill>
                  <a:srgbClr val="0070C0"/>
                </a:solidFill>
              </a:rPr>
              <a:t>NLS Module</a:t>
            </a:r>
          </a:p>
        </p:txBody>
      </p:sp>
    </p:spTree>
    <p:extLst>
      <p:ext uri="{BB962C8B-B14F-4D97-AF65-F5344CB8AC3E}">
        <p14:creationId xmlns:p14="http://schemas.microsoft.com/office/powerpoint/2010/main" val="3849814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420205-B261-1C50-1311-D0D29252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fr-FR"/>
              <a:t>Processus d'évaluation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FD4078-95B9-6740-6565-A9A55E8AF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9"/>
            <a:ext cx="6015571" cy="41743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fr-FR">
              <a:latin typeface="Century Schoolbook"/>
              <a:cs typeface="Arial"/>
            </a:endParaRPr>
          </a:p>
          <a:p>
            <a:endParaRPr lang="fr-FR">
              <a:latin typeface="Century Schoolbook"/>
              <a:cs typeface="Arial"/>
            </a:endParaRPr>
          </a:p>
          <a:p>
            <a:endParaRPr lang="fr-FR">
              <a:latin typeface="Century Schoolbook"/>
              <a:cs typeface="Arial"/>
            </a:endParaRPr>
          </a:p>
        </p:txBody>
      </p:sp>
      <p:pic>
        <p:nvPicPr>
          <p:cNvPr id="32" name="Picture 31" descr="Rouages d’une machine">
            <a:extLst>
              <a:ext uri="{FF2B5EF4-FFF2-40B4-BE49-F238E27FC236}">
                <a16:creationId xmlns:a16="http://schemas.microsoft.com/office/drawing/2014/main" id="{1B808492-9537-6F88-8124-6BF0F3CB51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80" r="36428" b="-1"/>
          <a:stretch/>
        </p:blipFill>
        <p:spPr>
          <a:xfrm>
            <a:off x="7538689" y="10"/>
            <a:ext cx="465331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13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449F3-55F4-F77B-7421-FCBA5287B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fr-FR">
                <a:ea typeface="+mj-lt"/>
                <a:cs typeface="+mj-lt"/>
              </a:rPr>
              <a:t>Objectifs et métriques</a:t>
            </a:r>
            <a:endParaRPr lang="fr-FR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B583EAFF-4FE9-33DC-7816-896F4561D3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4325546"/>
              </p:ext>
            </p:extLst>
          </p:nvPr>
        </p:nvGraphicFramePr>
        <p:xfrm>
          <a:off x="1262063" y="2013055"/>
          <a:ext cx="8785735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6899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449F3-55F4-F77B-7421-FCBA5287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+mj-lt"/>
                <a:cs typeface="+mj-lt"/>
              </a:rPr>
              <a:t>Méthodes d'évaluation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3C7822-39B4-C527-4539-998FA02B9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rgbClr val="000000"/>
                </a:solidFill>
              </a:rPr>
              <a:t>Qualitative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Sondages : avis des utilisateurs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Obtenir les attentes et les retours d'expérience</a:t>
            </a:r>
            <a:endParaRPr lang="fr-FR" dirty="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Atelier de programmation</a:t>
            </a:r>
            <a:endParaRPr lang="fr-FR" dirty="0">
              <a:solidFill>
                <a:srgbClr val="000000"/>
              </a:solidFill>
            </a:endParaRPr>
          </a:p>
          <a:p>
            <a:r>
              <a:rPr lang="fr-FR" dirty="0">
                <a:solidFill>
                  <a:srgbClr val="000000"/>
                </a:solidFill>
              </a:rPr>
              <a:t>Quantitative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Données de performances réelles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Temps de réponse</a:t>
            </a:r>
          </a:p>
        </p:txBody>
      </p:sp>
    </p:spTree>
    <p:extLst>
      <p:ext uri="{BB962C8B-B14F-4D97-AF65-F5344CB8AC3E}">
        <p14:creationId xmlns:p14="http://schemas.microsoft.com/office/powerpoint/2010/main" val="647211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449F3-55F4-F77B-7421-FCBA5287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ea typeface="+mj-lt"/>
                <a:cs typeface="+mj-lt"/>
              </a:rPr>
              <a:t>Résultats qualitatifs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3C7822-39B4-C527-4539-998FA02B9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7506213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rgbClr val="000000"/>
                </a:solidFill>
              </a:rPr>
              <a:t>Attentes : fonctionnalités basiques</a:t>
            </a:r>
          </a:p>
          <a:p>
            <a:r>
              <a:rPr lang="fr-FR" dirty="0">
                <a:solidFill>
                  <a:srgbClr val="000000"/>
                </a:solidFill>
              </a:rPr>
              <a:t>Retours d'expérience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comportements inattendus pour certains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rgbClr val="000000"/>
                </a:solidFill>
              </a:rPr>
              <a:t>D'autres fonctionnent bien</a:t>
            </a:r>
          </a:p>
          <a:p>
            <a:pPr marL="274320" lvl="1" indent="0">
              <a:buNone/>
            </a:pPr>
            <a:endParaRPr lang="fr-FR" spc="1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322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449F3-55F4-F77B-7421-FCBA5287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Résultats quantitatifs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3C7822-39B4-C527-4539-998FA02B9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Latences globales</a:t>
            </a: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chemeClr val="tx1"/>
                </a:solidFill>
              </a:rPr>
              <a:t>Méthodes</a:t>
            </a:r>
            <a:r>
              <a:rPr lang="fr-FR" spc="10" dirty="0">
                <a:solidFill>
                  <a:schemeClr val="tx1"/>
                </a:solidFill>
                <a:ea typeface="+mn-lt"/>
                <a:cs typeface="+mn-lt"/>
              </a:rPr>
              <a:t> linéarisation = latences de moins d'1 ms </a:t>
            </a:r>
            <a:endParaRPr lang="fr-FR" spc="10" dirty="0">
              <a:solidFill>
                <a:schemeClr val="tx1"/>
              </a:solidFill>
            </a:endParaRP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chemeClr val="tx1"/>
                </a:solidFill>
                <a:ea typeface="+mn-lt"/>
                <a:cs typeface="+mn-lt"/>
              </a:rPr>
              <a:t>Temps d'utilisation du CPU élevé lors des modifications 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Courier New" pitchFamily="34" charset="0"/>
              <a:buChar char="o"/>
            </a:pPr>
            <a:r>
              <a:rPr lang="fr-FR" spc="10" dirty="0">
                <a:solidFill>
                  <a:schemeClr val="tx1"/>
                </a:solidFill>
                <a:ea typeface="+mn-lt"/>
                <a:cs typeface="+mn-lt"/>
              </a:rPr>
              <a:t>Temps de réponse généralement lents</a:t>
            </a:r>
          </a:p>
          <a:p>
            <a:r>
              <a:rPr lang="fr-FR" dirty="0">
                <a:ea typeface="+mn-lt"/>
                <a:cs typeface="+mn-lt"/>
              </a:rPr>
              <a:t>Certaines latences atteignaient les 2 minutes</a:t>
            </a:r>
            <a:endParaRPr lang="fr-FR" spc="10" dirty="0">
              <a:ea typeface="+mn-lt"/>
              <a:cs typeface="+mn-lt"/>
            </a:endParaRPr>
          </a:p>
          <a:p>
            <a:r>
              <a:rPr lang="fr-FR" dirty="0"/>
              <a:t>Les requêtes s'entassent, LSP traite en FIFO, retard des autres requêtes</a:t>
            </a:r>
          </a:p>
          <a:p>
            <a:r>
              <a:rPr lang="fr-FR" dirty="0"/>
              <a:t>Màj de fichiers prennent + de temps car « </a:t>
            </a:r>
            <a:r>
              <a:rPr lang="fr-FR" dirty="0" err="1"/>
              <a:t>re-linéarisé</a:t>
            </a:r>
            <a:r>
              <a:rPr lang="fr-FR" dirty="0"/>
              <a:t> » à chaque fois</a:t>
            </a:r>
          </a:p>
          <a:p>
            <a:r>
              <a:rPr lang="fr-FR" dirty="0"/>
              <a:t>Solution proposée : garder uniquement la dernière màj du fichier dans la queue des requêtes LSP</a:t>
            </a:r>
            <a:endParaRPr lang="fr-FR" spc="10" dirty="0"/>
          </a:p>
          <a:p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pPr lvl="1">
              <a:buFont typeface="Courier New" pitchFamily="34" charset="0"/>
              <a:buChar char="o"/>
            </a:pP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6529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Microsoft Office PowerPoint</Application>
  <PresentationFormat>Widescreen</PresentationFormat>
  <Paragraphs>153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Century Schoolbook</vt:lpstr>
      <vt:lpstr>Courier New</vt:lpstr>
      <vt:lpstr>Wingdings</vt:lpstr>
      <vt:lpstr>Wingdings 2</vt:lpstr>
      <vt:lpstr>View</vt:lpstr>
      <vt:lpstr>Synthèse : Design and Implementation of the Language Server Protocol for the Nickel Language, Yannik Sander</vt:lpstr>
      <vt:lpstr>Sommaire</vt:lpstr>
      <vt:lpstr>Introduction</vt:lpstr>
      <vt:lpstr>Contexte du projet</vt:lpstr>
      <vt:lpstr>Motivation du projet</vt:lpstr>
      <vt:lpstr>Objectifs du projet</vt:lpstr>
      <vt:lpstr>Contexte actuel</vt:lpstr>
      <vt:lpstr>Le Language Server Protocol (LSP)</vt:lpstr>
      <vt:lpstr>Le Language Server Protocol (LSP)</vt:lpstr>
      <vt:lpstr>Configuration textuelle et langage Nickel</vt:lpstr>
      <vt:lpstr>Travaux Connexes</vt:lpstr>
      <vt:lpstr>Support IDE traditionnel</vt:lpstr>
      <vt:lpstr>Abstractions Client-Serveur</vt:lpstr>
      <vt:lpstr>Serveurs de Langage</vt:lpstr>
      <vt:lpstr>Approches alternatives</vt:lpstr>
      <vt:lpstr>Choix d'implémentation</vt:lpstr>
      <vt:lpstr>Objectifs clés</vt:lpstr>
      <vt:lpstr>Décision de conception</vt:lpstr>
      <vt:lpstr>Architecture de haut niveau</vt:lpstr>
      <vt:lpstr>Processus d'évaluation</vt:lpstr>
      <vt:lpstr>Objectifs et métriques</vt:lpstr>
      <vt:lpstr>Méthodes d'évaluation</vt:lpstr>
      <vt:lpstr>Résultats qualitatifs</vt:lpstr>
      <vt:lpstr>Résultats quantitatifs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>MOHAMED Djamila</cp:lastModifiedBy>
  <cp:revision>229</cp:revision>
  <dcterms:created xsi:type="dcterms:W3CDTF">2024-03-21T08:14:51Z</dcterms:created>
  <dcterms:modified xsi:type="dcterms:W3CDTF">2024-03-26T14:39:38Z</dcterms:modified>
</cp:coreProperties>
</file>