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3/26/2024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444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3/26/2024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64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3/26/2024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189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3/26/2024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3341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3/26/2024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397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3/26/2024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507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3/26/2024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946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3/26/2024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072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3/26/2024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416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3/26/2024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354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FF167-DE18-40C0-BEB8-80B577390DE1}" type="datetimeFigureOut">
              <a:rPr lang="en-US" smtClean="0"/>
              <a:t>3/26/2024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762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FF167-DE18-40C0-BEB8-80B577390DE1}" type="datetimeFigureOut">
              <a:rPr lang="en-US" smtClean="0"/>
              <a:t>3/26/2024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01A00-70C7-4D7C-A27E-9D30AE8BB4F3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MSIPCMContentMarking" descr="{&quot;HashCode&quot;:302568440,&quot;Placement&quot;:&quot;Footer&quot;,&quot;Top&quot;:519.343,&quot;Left&quot;:370.036072,&quot;SlideWidth&quot;:960,&quot;SlideHeight&quot;:540}">
            <a:extLst>
              <a:ext uri="{FF2B5EF4-FFF2-40B4-BE49-F238E27FC236}">
                <a16:creationId xmlns:a16="http://schemas.microsoft.com/office/drawing/2014/main" id="{B64496BE-2495-8A3D-EF47-BE3E22C33836}"/>
              </a:ext>
            </a:extLst>
          </p:cNvPr>
          <p:cNvSpPr txBox="1"/>
          <p:nvPr userDrawn="1"/>
        </p:nvSpPr>
        <p:spPr>
          <a:xfrm>
            <a:off x="4699458" y="6595656"/>
            <a:ext cx="2793084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8000"/>
                </a:solidFill>
                <a:latin typeface="Calibri" panose="020F0502020204030204" pitchFamily="34" charset="0"/>
              </a:rPr>
              <a:t>THALES GROUP LIMITED DISTRIBUTION - SCOPE </a:t>
            </a:r>
          </a:p>
        </p:txBody>
      </p:sp>
    </p:spTree>
    <p:extLst>
      <p:ext uri="{BB962C8B-B14F-4D97-AF65-F5344CB8AC3E}">
        <p14:creationId xmlns:p14="http://schemas.microsoft.com/office/powerpoint/2010/main" val="63133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983669"/>
              </p:ext>
            </p:extLst>
          </p:nvPr>
        </p:nvGraphicFramePr>
        <p:xfrm>
          <a:off x="194961" y="167731"/>
          <a:ext cx="8660714" cy="63308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5231">
                  <a:extLst>
                    <a:ext uri="{9D8B030D-6E8A-4147-A177-3AD203B41FA5}">
                      <a16:colId xmlns:a16="http://schemas.microsoft.com/office/drawing/2014/main" val="338063168"/>
                    </a:ext>
                  </a:extLst>
                </a:gridCol>
                <a:gridCol w="649816">
                  <a:extLst>
                    <a:ext uri="{9D8B030D-6E8A-4147-A177-3AD203B41FA5}">
                      <a16:colId xmlns:a16="http://schemas.microsoft.com/office/drawing/2014/main" val="3144730804"/>
                    </a:ext>
                  </a:extLst>
                </a:gridCol>
                <a:gridCol w="2515415">
                  <a:extLst>
                    <a:ext uri="{9D8B030D-6E8A-4147-A177-3AD203B41FA5}">
                      <a16:colId xmlns:a16="http://schemas.microsoft.com/office/drawing/2014/main" val="4200496958"/>
                    </a:ext>
                  </a:extLst>
                </a:gridCol>
                <a:gridCol w="2400126">
                  <a:extLst>
                    <a:ext uri="{9D8B030D-6E8A-4147-A177-3AD203B41FA5}">
                      <a16:colId xmlns:a16="http://schemas.microsoft.com/office/drawing/2014/main" val="4250934643"/>
                    </a:ext>
                  </a:extLst>
                </a:gridCol>
                <a:gridCol w="2400126">
                  <a:extLst>
                    <a:ext uri="{9D8B030D-6E8A-4147-A177-3AD203B41FA5}">
                      <a16:colId xmlns:a16="http://schemas.microsoft.com/office/drawing/2014/main" val="2883926826"/>
                    </a:ext>
                  </a:extLst>
                </a:gridCol>
              </a:tblGrid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Month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Week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en-US" sz="1050" baseline="0" noProof="0" dirty="0">
                          <a:latin typeface="Arial Narrow" panose="020B0606020202030204" pitchFamily="34" charset="0"/>
                        </a:rPr>
                        <a:t> (doc in latex)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(doc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in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pptx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+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Jira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issues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Deliverable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/tests in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NodeJs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/…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460156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March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W12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Thales DIS + LSP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1526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LSP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Set-up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bitbucket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repository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7084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April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plugin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development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+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Start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of </a:t>
                      </a:r>
                      <a:r>
                        <a:rPr lang="en-US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LSP for C/ACSL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3214552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plugin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development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+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Ocaml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Initiate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tests</a:t>
                      </a:r>
                      <a:endParaRPr lang="en-US" sz="1050" kern="120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675185"/>
                  </a:ext>
                </a:extLst>
              </a:tr>
              <a:tr h="295858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First report</a:t>
                      </a:r>
                      <a:r>
                        <a:rPr lang="en-US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for the 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kern="120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3581840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kern="1200" noProof="0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013740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May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050" noProof="0" dirty="0">
                          <a:latin typeface="Arial Narrow" panose="020B0606020202030204" pitchFamily="34" charset="0"/>
                        </a:rPr>
                        <a:t>W18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74122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W19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090446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fr-FR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LSP 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First version of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ACSL LSP as </a:t>
                      </a:r>
                      <a:r>
                        <a:rPr lang="fr-FR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Frama</a:t>
                      </a:r>
                      <a:r>
                        <a:rPr lang="fr-FR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-C Plugin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57034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W21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LSP in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Start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intergration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of ACSL </a:t>
                      </a:r>
                      <a:r>
                        <a:rPr lang="en-US" sz="1050" kern="120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LSP with </a:t>
                      </a:r>
                      <a:r>
                        <a:rPr lang="en-US" sz="1050" kern="120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268476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June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Inititiate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experiments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evaluation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334808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Mid-term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report for the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demonstration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to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supervisor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(s)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First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proof of concept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72128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W24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594115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W25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-C + C + ACSL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3399391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W26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LSP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8017627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Jully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W27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Frama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-C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Main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syntactic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provided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3911503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W28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VsCode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8828886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W29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Design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Choices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348953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W30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IDEs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, Common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Criteria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Main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semantic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features</a:t>
                      </a:r>
                      <a:r>
                        <a:rPr lang="fr-FR" sz="1050" kern="120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050" kern="120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provided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414688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August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W31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Related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(smart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cards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202002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W32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Finalize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section about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experiments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evaluation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3892794"/>
                  </a:ext>
                </a:extLst>
              </a:tr>
              <a:tr h="212364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W33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Summary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 of </a:t>
                      </a:r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developpment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activities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1649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W34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Summary</a:t>
                      </a:r>
                      <a:r>
                        <a:rPr lang="fr-FR" sz="1050" baseline="0" noProof="0" dirty="0">
                          <a:latin typeface="Arial Narrow" panose="020B0606020202030204" pitchFamily="34" charset="0"/>
                        </a:rPr>
                        <a:t> of future </a:t>
                      </a:r>
                      <a:r>
                        <a:rPr lang="fr-FR" sz="1050" baseline="0" noProof="0" dirty="0" err="1">
                          <a:latin typeface="Arial Narrow" panose="020B0606020202030204" pitchFamily="34" charset="0"/>
                        </a:rPr>
                        <a:t>work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 err="1">
                          <a:latin typeface="Arial Narrow" panose="020B0606020202030204" pitchFamily="34" charset="0"/>
                        </a:rPr>
                        <a:t>Follow</a:t>
                      </a:r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-up meeting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Close </a:t>
                      </a:r>
                      <a:r>
                        <a:rPr lang="fr-FR" sz="1050" kern="1200" noProof="0" dirty="0" err="1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Jira</a:t>
                      </a:r>
                      <a:r>
                        <a:rPr lang="fr-FR" sz="1050" kern="1200" noProof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+mn-ea"/>
                          <a:cs typeface="+mn-cs"/>
                        </a:rPr>
                        <a:t> issues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686590"/>
                  </a:ext>
                </a:extLst>
              </a:tr>
              <a:tr h="180125">
                <a:tc>
                  <a:txBody>
                    <a:bodyPr/>
                    <a:lstStyle/>
                    <a:p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1050" noProof="0" dirty="0">
                          <a:latin typeface="Arial Narrow" panose="020B0606020202030204" pitchFamily="34" charset="0"/>
                        </a:rPr>
                        <a:t>W35</a:t>
                      </a:r>
                      <a:endParaRPr lang="en-US" sz="1050" noProof="0" dirty="0"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report for the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school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Internal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</a:t>
                      </a:r>
                      <a:r>
                        <a:rPr lang="fr-FR" sz="1050" baseline="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presentation</a:t>
                      </a:r>
                      <a:r>
                        <a:rPr lang="fr-FR" sz="1050" baseline="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to the team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Final 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implementation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(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Jira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 issues </a:t>
                      </a:r>
                      <a:r>
                        <a:rPr lang="fr-FR" sz="1050" noProof="0" dirty="0" err="1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closed</a:t>
                      </a:r>
                      <a:r>
                        <a:rPr lang="fr-FR" sz="1050" noProof="0" dirty="0">
                          <a:solidFill>
                            <a:srgbClr val="FF0000"/>
                          </a:solidFill>
                          <a:latin typeface="Arial Narrow" panose="020B0606020202030204" pitchFamily="34" charset="0"/>
                        </a:rPr>
                        <a:t>)</a:t>
                      </a:r>
                      <a:endParaRPr lang="en-US" sz="1050" noProof="0" dirty="0">
                        <a:solidFill>
                          <a:srgbClr val="FF0000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46989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913340" y="579624"/>
            <a:ext cx="3204520" cy="2970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Project duration: 23 weeks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100" dirty="0" err="1">
                <a:latin typeface="Arial Narrow" panose="020B0606020202030204" pitchFamily="34" charset="0"/>
              </a:rPr>
              <a:t>Follow</a:t>
            </a:r>
            <a:r>
              <a:rPr lang="fr-FR" sz="1100" dirty="0">
                <a:latin typeface="Arial Narrow" panose="020B0606020202030204" pitchFamily="34" charset="0"/>
              </a:rPr>
              <a:t>-up meeting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with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supervisor</a:t>
            </a:r>
            <a:endParaRPr lang="en-US" sz="1100" dirty="0"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100" dirty="0">
                <a:latin typeface="Arial Narrow" panose="020B0606020202030204" pitchFamily="34" charset="0"/>
              </a:rPr>
              <a:t>Open a </a:t>
            </a:r>
            <a:r>
              <a:rPr lang="fr-FR" sz="1100" dirty="0" err="1">
                <a:latin typeface="Arial Narrow" panose="020B0606020202030204" pitchFamily="34" charset="0"/>
              </a:rPr>
              <a:t>Jira</a:t>
            </a:r>
            <a:r>
              <a:rPr lang="fr-FR" sz="1100" dirty="0">
                <a:latin typeface="Arial Narrow" panose="020B0606020202030204" pitchFamily="34" charset="0"/>
              </a:rPr>
              <a:t> issue for </a:t>
            </a:r>
            <a:r>
              <a:rPr lang="fr-FR" sz="1100" dirty="0" err="1">
                <a:latin typeface="Arial Narrow" panose="020B0606020202030204" pitchFamily="34" charset="0"/>
              </a:rPr>
              <a:t>each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implementation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task</a:t>
            </a:r>
            <a:r>
              <a:rPr lang="fr-FR" sz="1100" dirty="0">
                <a:latin typeface="Arial Narrow" panose="020B0606020202030204" pitchFamily="34" charset="0"/>
              </a:rPr>
              <a:t> and close </a:t>
            </a:r>
            <a:r>
              <a:rPr lang="fr-FR" sz="1100" dirty="0" err="1">
                <a:latin typeface="Arial Narrow" panose="020B0606020202030204" pitchFamily="34" charset="0"/>
              </a:rPr>
              <a:t>it</a:t>
            </a:r>
            <a:r>
              <a:rPr lang="fr-FR" sz="1100" dirty="0">
                <a:latin typeface="Arial Narrow" panose="020B0606020202030204" pitchFamily="34" charset="0"/>
              </a:rPr>
              <a:t> as </a:t>
            </a:r>
            <a:r>
              <a:rPr lang="fr-FR" sz="1100" dirty="0" err="1">
                <a:latin typeface="Arial Narrow" panose="020B0606020202030204" pitchFamily="34" charset="0"/>
              </a:rPr>
              <a:t>soon</a:t>
            </a:r>
            <a:r>
              <a:rPr lang="fr-FR" sz="1100" dirty="0">
                <a:latin typeface="Arial Narrow" panose="020B0606020202030204" pitchFamily="34" charset="0"/>
              </a:rPr>
              <a:t> as the </a:t>
            </a:r>
            <a:r>
              <a:rPr lang="fr-FR" sz="1100" dirty="0" err="1">
                <a:latin typeface="Arial Narrow" panose="020B0606020202030204" pitchFamily="34" charset="0"/>
              </a:rPr>
              <a:t>task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is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complete</a:t>
            </a:r>
            <a:r>
              <a:rPr lang="fr-FR" sz="1100" dirty="0">
                <a:latin typeface="Arial Narrow" panose="020B0606020202030204" pitchFamily="34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100" dirty="0">
                <a:latin typeface="Arial Narrow" panose="020B0606020202030204" pitchFamily="34" charset="0"/>
              </a:rPr>
              <a:t>Deliverable versioning: put all deliverables in four separate folders (doc, meetings, </a:t>
            </a:r>
            <a:r>
              <a:rPr lang="en-US" sz="1100" dirty="0" err="1">
                <a:latin typeface="Arial Narrow" panose="020B0606020202030204" pitchFamily="34" charset="0"/>
              </a:rPr>
              <a:t>src</a:t>
            </a:r>
            <a:r>
              <a:rPr lang="en-US" sz="1100" dirty="0">
                <a:latin typeface="Arial Narrow" panose="020B0606020202030204" pitchFamily="34" charset="0"/>
              </a:rPr>
              <a:t>, tests).</a:t>
            </a:r>
            <a:r>
              <a:rPr lang="fr-FR" sz="1100" b="1" dirty="0">
                <a:latin typeface="Arial Narrow" panose="020B0606020202030204" pitchFamily="34" charset="0"/>
              </a:rPr>
              <a:t> ‘tests’ are </a:t>
            </a:r>
            <a:r>
              <a:rPr lang="fr-FR" sz="1100" b="1" dirty="0" err="1">
                <a:latin typeface="Arial Narrow" panose="020B0606020202030204" pitchFamily="34" charset="0"/>
              </a:rPr>
              <a:t>useful</a:t>
            </a:r>
            <a:r>
              <a:rPr lang="fr-FR" sz="1100" b="1" dirty="0">
                <a:latin typeface="Arial Narrow" panose="020B0606020202030204" pitchFamily="34" charset="0"/>
              </a:rPr>
              <a:t> to benchmark the </a:t>
            </a:r>
            <a:r>
              <a:rPr lang="fr-FR" sz="1100" b="1" dirty="0" err="1">
                <a:latin typeface="Arial Narrow" panose="020B0606020202030204" pitchFamily="34" charset="0"/>
              </a:rPr>
              <a:t>implelentation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progress</a:t>
            </a:r>
            <a:r>
              <a:rPr lang="fr-FR" sz="1100" b="1" dirty="0">
                <a:latin typeface="Arial Narrow" panose="020B0606020202030204" pitchFamily="34" charset="0"/>
              </a:rPr>
              <a:t> and </a:t>
            </a:r>
            <a:r>
              <a:rPr lang="fr-FR" sz="1100" b="1" dirty="0" err="1">
                <a:latin typeface="Arial Narrow" panose="020B0606020202030204" pitchFamily="34" charset="0"/>
              </a:rPr>
              <a:t>track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regressions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during</a:t>
            </a:r>
            <a:r>
              <a:rPr lang="fr-FR" sz="1100" b="1" dirty="0">
                <a:latin typeface="Arial Narrow" panose="020B0606020202030204" pitchFamily="34" charset="0"/>
              </a:rPr>
              <a:t> </a:t>
            </a:r>
            <a:r>
              <a:rPr lang="fr-FR" sz="1100" b="1" dirty="0" err="1">
                <a:latin typeface="Arial Narrow" panose="020B0606020202030204" pitchFamily="34" charset="0"/>
              </a:rPr>
              <a:t>development</a:t>
            </a:r>
            <a:r>
              <a:rPr lang="fr-FR" sz="1100" b="1" dirty="0">
                <a:latin typeface="Arial Narrow" panose="020B0606020202030204" pitchFamily="34" charset="0"/>
              </a:rPr>
              <a:t>.</a:t>
            </a:r>
            <a:endParaRPr lang="en-US" sz="1100" b="1" dirty="0">
              <a:latin typeface="Arial Narrow" panose="020B0606020202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fr-FR" sz="1100" dirty="0" err="1">
                <a:latin typeface="Arial Narrow" panose="020B0606020202030204" pitchFamily="34" charset="0"/>
              </a:rPr>
              <a:t>Maintain</a:t>
            </a:r>
            <a:r>
              <a:rPr lang="fr-FR" sz="1100" dirty="0">
                <a:latin typeface="Arial Narrow" panose="020B0606020202030204" pitchFamily="34" charset="0"/>
              </a:rPr>
              <a:t> the latex documentation up to date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along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with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pptx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prentations</a:t>
            </a:r>
            <a:r>
              <a:rPr lang="fr-FR" sz="1100" dirty="0">
                <a:latin typeface="Arial Narrow" panose="020B0606020202030204" pitchFamily="34" charset="0"/>
              </a:rPr>
              <a:t> for </a:t>
            </a:r>
            <a:r>
              <a:rPr lang="fr-FR" sz="1100" dirty="0" err="1">
                <a:latin typeface="Arial Narrow" panose="020B0606020202030204" pitchFamily="34" charset="0"/>
              </a:rPr>
              <a:t>follow</a:t>
            </a:r>
            <a:r>
              <a:rPr lang="fr-FR" sz="1100" dirty="0">
                <a:latin typeface="Arial Narrow" panose="020B0606020202030204" pitchFamily="34" charset="0"/>
              </a:rPr>
              <a:t>-up meetings (</a:t>
            </a:r>
            <a:r>
              <a:rPr lang="fr-FR" sz="1100" dirty="0" err="1">
                <a:latin typeface="Arial Narrow" panose="020B0606020202030204" pitchFamily="34" charset="0"/>
              </a:rPr>
              <a:t>keep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same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material</a:t>
            </a:r>
            <a:r>
              <a:rPr lang="fr-FR" sz="1100" dirty="0">
                <a:latin typeface="Arial Narrow" panose="020B0606020202030204" pitchFamily="34" charset="0"/>
              </a:rPr>
              <a:t>, archive </a:t>
            </a:r>
            <a:r>
              <a:rPr lang="fr-FR" sz="1100" dirty="0" err="1">
                <a:latin typeface="Arial Narrow" panose="020B0606020202030204" pitchFamily="34" charset="0"/>
              </a:rPr>
              <a:t>latest</a:t>
            </a:r>
            <a:r>
              <a:rPr lang="fr-FR" sz="1100" dirty="0">
                <a:latin typeface="Arial Narrow" panose="020B0606020202030204" pitchFamily="34" charset="0"/>
              </a:rPr>
              <a:t> version and </a:t>
            </a:r>
            <a:r>
              <a:rPr lang="fr-FR" sz="1100" dirty="0" err="1">
                <a:latin typeface="Arial Narrow" panose="020B0606020202030204" pitchFamily="34" charset="0"/>
              </a:rPr>
              <a:t>highlight</a:t>
            </a:r>
            <a:r>
              <a:rPr lang="fr-FR" sz="1100" dirty="0">
                <a:latin typeface="Arial Narrow" panose="020B0606020202030204" pitchFamily="34" charset="0"/>
              </a:rPr>
              <a:t> the </a:t>
            </a:r>
            <a:r>
              <a:rPr lang="fr-FR" sz="1100" dirty="0" err="1">
                <a:latin typeface="Arial Narrow" panose="020B0606020202030204" pitchFamily="34" charset="0"/>
              </a:rPr>
              <a:t>newst</a:t>
            </a:r>
            <a:r>
              <a:rPr lang="fr-FR" sz="1100" dirty="0">
                <a:latin typeface="Arial Narrow" panose="020B0606020202030204" pitchFamily="34" charset="0"/>
              </a:rPr>
              <a:t> updates </a:t>
            </a:r>
            <a:r>
              <a:rPr lang="fr-FR" sz="1100" dirty="0" err="1">
                <a:latin typeface="Arial Narrow" panose="020B0606020202030204" pitchFamily="34" charset="0"/>
              </a:rPr>
              <a:t>every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week</a:t>
            </a:r>
            <a:r>
              <a:rPr lang="fr-FR" sz="1100" dirty="0">
                <a:latin typeface="Arial Narrow" panose="020B0606020202030204" pitchFamily="34" charset="0"/>
              </a:rPr>
              <a:t> in the </a:t>
            </a:r>
            <a:r>
              <a:rPr lang="fr-FR" sz="1100" dirty="0" err="1">
                <a:latin typeface="Arial Narrow" panose="020B0606020202030204" pitchFamily="34" charset="0"/>
              </a:rPr>
              <a:t>same</a:t>
            </a:r>
            <a:r>
              <a:rPr lang="fr-FR" sz="1100" dirty="0">
                <a:latin typeface="Arial Narrow" panose="020B0606020202030204" pitchFamily="34" charset="0"/>
              </a:rPr>
              <a:t> document (latex and </a:t>
            </a:r>
            <a:r>
              <a:rPr lang="fr-FR" sz="1100" dirty="0" err="1">
                <a:latin typeface="Arial Narrow" panose="020B0606020202030204" pitchFamily="34" charset="0"/>
              </a:rPr>
              <a:t>pdf</a:t>
            </a:r>
            <a:r>
              <a:rPr lang="fr-FR" sz="1100" dirty="0">
                <a:latin typeface="Arial Narrow" panose="020B0606020202030204" pitchFamily="34" charset="0"/>
              </a:rPr>
              <a:t>).)</a:t>
            </a:r>
          </a:p>
          <a:p>
            <a:pPr marL="342900" indent="-342900">
              <a:buFont typeface="+mj-lt"/>
              <a:buAutoNum type="arabicPeriod"/>
            </a:pPr>
            <a:r>
              <a:rPr lang="fr-FR" sz="1100" dirty="0">
                <a:latin typeface="Arial Narrow" panose="020B0606020202030204" pitchFamily="34" charset="0"/>
              </a:rPr>
              <a:t>Archive and update </a:t>
            </a:r>
            <a:r>
              <a:rPr lang="fr-FR" sz="1100" dirty="0" err="1">
                <a:latin typeface="Arial Narrow" panose="020B0606020202030204" pitchFamily="34" charset="0"/>
              </a:rPr>
              <a:t>this</a:t>
            </a:r>
            <a:r>
              <a:rPr lang="fr-FR" sz="1100" dirty="0">
                <a:latin typeface="Arial Narrow" panose="020B0606020202030204" pitchFamily="34" charset="0"/>
              </a:rPr>
              <a:t> plan if </a:t>
            </a:r>
            <a:r>
              <a:rPr lang="fr-FR" sz="1100" dirty="0" err="1">
                <a:latin typeface="Arial Narrow" panose="020B0606020202030204" pitchFamily="34" charset="0"/>
              </a:rPr>
              <a:t>needed</a:t>
            </a:r>
            <a:r>
              <a:rPr lang="fr-FR" sz="1100" dirty="0">
                <a:latin typeface="Arial Narrow" panose="020B0606020202030204" pitchFamily="34" charset="0"/>
              </a:rPr>
              <a:t> but </a:t>
            </a:r>
            <a:r>
              <a:rPr lang="fr-FR" sz="1100" dirty="0" err="1">
                <a:latin typeface="Arial Narrow" panose="020B0606020202030204" pitchFamily="34" charset="0"/>
              </a:rPr>
              <a:t>anticipate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risks</a:t>
            </a:r>
            <a:r>
              <a:rPr lang="fr-FR" sz="1100" dirty="0">
                <a:latin typeface="Arial Narrow" panose="020B0606020202030204" pitchFamily="34" charset="0"/>
              </a:rPr>
              <a:t> of updates at least 2 </a:t>
            </a:r>
            <a:r>
              <a:rPr lang="fr-FR" sz="1100" dirty="0" err="1">
                <a:latin typeface="Arial Narrow" panose="020B0606020202030204" pitchFamily="34" charset="0"/>
              </a:rPr>
              <a:t>weeks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before</a:t>
            </a:r>
            <a:r>
              <a:rPr lang="fr-FR" sz="1100" dirty="0">
                <a:latin typeface="Arial Narrow" panose="020B0606020202030204" pitchFamily="34" charset="0"/>
              </a:rPr>
              <a:t> </a:t>
            </a:r>
            <a:r>
              <a:rPr lang="fr-FR" sz="1100" dirty="0" err="1">
                <a:latin typeface="Arial Narrow" panose="020B0606020202030204" pitchFamily="34" charset="0"/>
              </a:rPr>
              <a:t>deliverable</a:t>
            </a:r>
            <a:r>
              <a:rPr lang="fr-FR" sz="1100" dirty="0">
                <a:latin typeface="Arial Narrow" panose="020B0606020202030204" pitchFamily="34" charset="0"/>
              </a:rPr>
              <a:t> deadlines.</a:t>
            </a:r>
            <a:endParaRPr lang="en-US" sz="1100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079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451</Words>
  <Application>Microsoft Office PowerPoint</Application>
  <PresentationFormat>Widescreen</PresentationFormat>
  <Paragraphs>113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Calibri Light</vt:lpstr>
      <vt:lpstr>Office Theme</vt:lpstr>
      <vt:lpstr>PowerPoint Presentation</vt:lpstr>
    </vt:vector>
  </TitlesOfParts>
  <Company>Gemalto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stage</dc:title>
  <dc:creator>DJOUDI Adel</dc:creator>
  <cp:lastModifiedBy>MOHAMED Djamila</cp:lastModifiedBy>
  <cp:revision>39</cp:revision>
  <dcterms:created xsi:type="dcterms:W3CDTF">2024-03-19T14:34:39Z</dcterms:created>
  <dcterms:modified xsi:type="dcterms:W3CDTF">2024-03-26T15:54:37Z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c1d335-5221-4a6a-889f-c684b2c8474c_Enabled">
    <vt:lpwstr>true</vt:lpwstr>
  </property>
  <property fmtid="{D5CDD505-2E9C-101B-9397-08002B2CF9AE}" pid="3" name="MSIP_Label_c6c1d335-5221-4a6a-889f-c684b2c8474c_SetDate">
    <vt:lpwstr>2024-03-20T10:00:49Z</vt:lpwstr>
  </property>
  <property fmtid="{D5CDD505-2E9C-101B-9397-08002B2CF9AE}" pid="4" name="MSIP_Label_c6c1d335-5221-4a6a-889f-c684b2c8474c_Method">
    <vt:lpwstr>Standard</vt:lpwstr>
  </property>
  <property fmtid="{D5CDD505-2E9C-101B-9397-08002B2CF9AE}" pid="5" name="MSIP_Label_c6c1d335-5221-4a6a-889f-c684b2c8474c_Name">
    <vt:lpwstr>DIS Limited Distribution Scope</vt:lpwstr>
  </property>
  <property fmtid="{D5CDD505-2E9C-101B-9397-08002B2CF9AE}" pid="6" name="MSIP_Label_c6c1d335-5221-4a6a-889f-c684b2c8474c_SiteId">
    <vt:lpwstr>6e603289-5e46-4e26-ac7c-03a85420a9a5</vt:lpwstr>
  </property>
  <property fmtid="{D5CDD505-2E9C-101B-9397-08002B2CF9AE}" pid="7" name="MSIP_Label_c6c1d335-5221-4a6a-889f-c684b2c8474c_ActionId">
    <vt:lpwstr>d2d913ac-cd74-483f-a3be-79ec5b78c208</vt:lpwstr>
  </property>
  <property fmtid="{D5CDD505-2E9C-101B-9397-08002B2CF9AE}" pid="8" name="MSIP_Label_c6c1d335-5221-4a6a-889f-c684b2c8474c_ContentBits">
    <vt:lpwstr>3</vt:lpwstr>
  </property>
</Properties>
</file>